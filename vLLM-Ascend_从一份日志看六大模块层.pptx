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3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一次 serve = 293 秒、26 个进程、2800 行日志。这 5 分钟里机器到底干了什么？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全片走一条主线 —— 是什么 → 怎么接 → 什么结构 → 逐层看 → 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对比 fork 的成本 —— fork 要持续 rebase 上游；插件式只维护适配层，但上游改命名就得跟着修 patch。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日志里 patch_* 出现 ×24，就是因为这些 patch 在 import 时批量生效。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这是全场的“地图”，后面 P6–P14 每页点亮一层；记住“进→调度→广播→算→编译→回”这条线。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本页只讲“有哪些模块、各干什么”；日志实证放下一页。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banner 与 non-default args 也在这层 —— 排障时最先看这两行，配置错都在这里现形。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引擎配置行是排障最该逐字段核对的一行 —— 并行、投机、量化都在里面。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之后所有 Worker 日志都带前缀 (Worker_DPx_EPx pid=…)，排障靠它定位是哪个 rank。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forward 里主要两件事 —— Attention 读写 KV、MoE 按专家路由（EP=8）。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 个 rank 各读一遍同一份 checkpoint，NFS 是启动期主要瓶颈；这也是“权重 53.31 GB”的来源。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编译只做一次；replay 是每次推理都在走的路。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hybrid 模型 4 个 KV group，每组 4480；133,120 = max_model_len，3.75× = 能并发几个满长度请求。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到这一步，一次请求闭环；KV block 在这里被还回去给下一个请求用。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回扣 P5 的地图，确认听众能把六层连成一条线。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不 fork 是理解整个项目的钥匙 —— 结构上就是“通用 vLLM + 一层 Ascend 适配”。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这页是把前面知识变成“可操作动作”的地方。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谢谢观看，欢迎提问。附注说明了推理阶段日志的重建来源。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02920" cy="2377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749807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VLLM-ASCEND  ·  一次真实启动日志的走读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86384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当你 </a:t>
            </a:r>
            <a:r>
              <a:rPr sz="31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vllm serve</a:t>
            </a:r>
            <a:r>
              <a:rPr sz="38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 时，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83664"/>
            <a:ext cx="786384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究竟</a:t>
            </a:r>
            <a:r>
              <a:rPr sz="3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发生了什么？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61488"/>
            <a:ext cx="507492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290779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从一份真实日志，看 vLLM-Ascend 的</a:t>
            </a:r>
            <a:r>
              <a:rPr sz="16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六大模块层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77724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SIX LAYERS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1225296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1  </a:t>
            </a: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平台与前端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1499616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1828800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2  </a:t>
            </a: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引擎层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103120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432304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3  </a:t>
            </a: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执行层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70662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广播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3035808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4  </a:t>
            </a: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计算层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3310128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3639312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5  </a:t>
            </a: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采样·编译·调优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3913632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编译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2832" y="4242816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6  </a:t>
            </a: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4517136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回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Freeform 34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CONTENTS  /  05 CHAPTERS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6152" y="1389888"/>
            <a:ext cx="10972" cy="3913632"/>
          </a:xfrm>
          <a:prstGeom prst="rect">
            <a:avLst/>
          </a:prstGeom>
          <a:solidFill>
            <a:srgbClr val="E7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298448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3" name="Oval 12"/>
          <p:cNvSpPr/>
          <p:nvPr/>
        </p:nvSpPr>
        <p:spPr>
          <a:xfrm>
            <a:off x="1170432" y="1563624"/>
            <a:ext cx="100584" cy="1005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44752" y="1325880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什么是 vLLM-Ascend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682495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一份 MonkeyPatch + 一个插件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103120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7" name="Oval 16"/>
          <p:cNvSpPr/>
          <p:nvPr/>
        </p:nvSpPr>
        <p:spPr>
          <a:xfrm>
            <a:off x="1170432" y="2368296"/>
            <a:ext cx="100584" cy="1005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44752" y="2130552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它怎么接入 vLLM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2487168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entry points 与 MonkeyPatch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07792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1" name="Oval 20"/>
          <p:cNvSpPr/>
          <p:nvPr/>
        </p:nvSpPr>
        <p:spPr>
          <a:xfrm>
            <a:off x="1170432" y="3172968"/>
            <a:ext cx="100584" cy="1005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44752" y="2935224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认识它的结构（六大层）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3291840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进 → 调度 → 广播 → 算 → 编译 → 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12464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Oval 24"/>
          <p:cNvSpPr/>
          <p:nvPr/>
        </p:nvSpPr>
        <p:spPr>
          <a:xfrm>
            <a:off x="1170432" y="3977640"/>
            <a:ext cx="100584" cy="1005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44752" y="3739896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逐层从日志看模块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096512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P6–P14：每页点亮一层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517136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1170432" y="4782312"/>
            <a:ext cx="100584" cy="10058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44752" y="4544568"/>
            <a:ext cx="53949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总结与排障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490118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把认知变成可操作动作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1325880"/>
            <a:ext cx="3822191" cy="3977639"/>
          </a:xfrm>
          <a:prstGeom prst="roundRect">
            <a:avLst>
              <a:gd name="adj" fmla="val 4000"/>
            </a:avLst>
          </a:prstGeom>
          <a:solidFill>
            <a:srgbClr val="0B1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01000" y="162763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2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ONE THREAD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92024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全片一条主线</a:t>
            </a:r>
            <a:endParaRPr sz="1600" b="1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028431" y="2487168"/>
            <a:ext cx="146304" cy="14630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95183" y="2633472"/>
            <a:ext cx="10972" cy="38404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66760" y="2414016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是什么</a:t>
            </a:r>
            <a:endParaRPr sz="1200" b="0" i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012680" y="2414016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36B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39" name="Oval 38"/>
          <p:cNvSpPr/>
          <p:nvPr/>
        </p:nvSpPr>
        <p:spPr>
          <a:xfrm>
            <a:off x="8028431" y="3017520"/>
            <a:ext cx="146304" cy="146304"/>
          </a:xfrm>
          <a:prstGeom prst="ellipse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95183" y="3163824"/>
            <a:ext cx="10972" cy="38404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2944368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C9D4E6"/>
                </a:solidFill>
                <a:latin typeface="微软雅黑"/>
                <a:ea typeface="微软雅黑"/>
                <a:cs typeface="微软雅黑"/>
              </a:rPr>
              <a:t>怎么接</a:t>
            </a:r>
            <a:endParaRPr sz="1200" b="0" i="0" dirty="0">
              <a:solidFill>
                <a:srgbClr val="C9D4E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12680" y="294436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36B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43" name="Oval 42"/>
          <p:cNvSpPr/>
          <p:nvPr/>
        </p:nvSpPr>
        <p:spPr>
          <a:xfrm>
            <a:off x="8028431" y="3547872"/>
            <a:ext cx="146304" cy="146304"/>
          </a:xfrm>
          <a:prstGeom prst="ellipse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95183" y="3694176"/>
            <a:ext cx="10972" cy="38404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66760" y="3474720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4E6"/>
                </a:solidFill>
                <a:latin typeface="微软雅黑"/>
                <a:ea typeface="微软雅黑"/>
                <a:cs typeface="微软雅黑"/>
              </a:rPr>
              <a:t>什么结构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347472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36B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47" name="Oval 46"/>
          <p:cNvSpPr/>
          <p:nvPr/>
        </p:nvSpPr>
        <p:spPr>
          <a:xfrm>
            <a:off x="8028431" y="4078224"/>
            <a:ext cx="146304" cy="146304"/>
          </a:xfrm>
          <a:prstGeom prst="ellipse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95183" y="4224528"/>
            <a:ext cx="10972" cy="38404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66760" y="4005072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4E6"/>
                </a:solidFill>
                <a:latin typeface="微软雅黑"/>
                <a:ea typeface="微软雅黑"/>
                <a:cs typeface="微软雅黑"/>
              </a:rPr>
              <a:t>逐层看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80" y="4005072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4536B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51" name="Oval 50"/>
          <p:cNvSpPr/>
          <p:nvPr/>
        </p:nvSpPr>
        <p:spPr>
          <a:xfrm>
            <a:off x="8028431" y="4608576"/>
            <a:ext cx="146304" cy="146304"/>
          </a:xfrm>
          <a:prstGeom prst="ellipse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66760" y="4535424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D4E6"/>
                </a:solidFill>
                <a:latin typeface="微软雅黑"/>
                <a:ea typeface="微软雅黑"/>
                <a:cs typeface="微软雅黑"/>
              </a:rPr>
              <a:t>收束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482803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FA0BA"/>
                </a:solidFill>
                <a:latin typeface="Consolas"/>
                <a:ea typeface="Consolas"/>
                <a:cs typeface="Consolas"/>
              </a:rPr>
              <a:t>是什么 → 怎么接 → 什么结构 → 逐层看 → 收束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什么是 vLLM-Ascend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CHAPTER 01  /  WHAT IT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43584"/>
            <a:ext cx="11183112" cy="932688"/>
          </a:xfrm>
          <a:prstGeom prst="roundRect">
            <a:avLst>
              <a:gd name="adj" fmla="val 4000"/>
            </a:avLst>
          </a:prstGeom>
          <a:solidFill>
            <a:srgbClr val="FC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243584"/>
            <a:ext cx="64008" cy="93268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316736"/>
            <a:ext cx="1065276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dirty="0" err="1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它是</a:t>
            </a:r>
            <a:r>
              <a:rPr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i="0" dirty="0" err="1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vLLM</a:t>
            </a:r>
            <a:r>
              <a:rPr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i="0" dirty="0" err="1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的一份</a:t>
            </a:r>
            <a:r>
              <a:rPr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i="0" dirty="0" err="1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MonkeyPatch</a:t>
            </a:r>
            <a:r>
              <a:rPr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700" b="0" i="0" dirty="0" err="1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一个</a:t>
            </a:r>
            <a:r>
              <a:rPr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i="0" dirty="0" err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插件</a:t>
            </a:r>
            <a:r>
              <a:rPr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 —— </a:t>
            </a:r>
            <a:r>
              <a:rPr sz="1700" b="1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不 fork </a:t>
            </a:r>
            <a:r>
              <a:rPr sz="1700" b="1" i="0" dirty="0" err="1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vLLM</a:t>
            </a:r>
            <a:r>
              <a:rPr sz="1700" b="0" i="0" dirty="0" err="1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，而是</a:t>
            </a:r>
            <a:r>
              <a:rPr lang="zh-CN" altLang="en-US"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插入</a:t>
            </a:r>
            <a:r>
              <a:rPr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在 </a:t>
            </a:r>
            <a:r>
              <a:rPr sz="1700" b="0" i="0" dirty="0" err="1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vLLM</a:t>
            </a:r>
            <a:r>
              <a:rPr sz="1700" b="0" i="0" dirty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 上。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2505456"/>
            <a:ext cx="365760" cy="365760"/>
          </a:xfrm>
          <a:prstGeom prst="ellipse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2468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i="0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插入</a:t>
            </a:r>
            <a:endParaRPr sz="1400" b="1" i="0" dirty="0">
              <a:solidFill>
                <a:srgbClr val="99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29968" y="2496312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作为插件挂在 vLLM 上，vLLM 主仓一行不改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3291840"/>
            <a:ext cx="365760" cy="365760"/>
          </a:xfrm>
          <a:prstGeom prst="ellipse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325526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改写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3282696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import 时把内部实现换成本地 NPU 实现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" y="4078224"/>
            <a:ext cx="365760" cy="365760"/>
          </a:xfrm>
          <a:prstGeom prst="ellipse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0416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取舍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406908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升级跟着上游走，代价是与 vLLM 内部命名强耦合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231136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20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WHY  IT  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523744"/>
            <a:ext cx="4462272" cy="2670048"/>
          </a:xfrm>
          <a:prstGeom prst="roundRect">
            <a:avLst>
              <a:gd name="adj" fmla="val 6000"/>
            </a:avLst>
          </a:prstGeom>
          <a:solidFill>
            <a:srgbClr val="E8F5F6"/>
          </a:solidFill>
          <a:ln w="16510">
            <a:solidFill>
              <a:srgbClr val="0E7C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82127" y="3163824"/>
            <a:ext cx="3401568" cy="1078992"/>
          </a:xfrm>
          <a:prstGeom prst="roundRect">
            <a:avLst>
              <a:gd name="adj" fmla="val 5000"/>
            </a:avLst>
          </a:prstGeom>
          <a:solidFill>
            <a:srgbClr val="E2E5EA"/>
          </a:solidFill>
          <a:ln w="12700">
            <a:solidFill>
              <a:srgbClr val="B9C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3291840"/>
            <a:ext cx="3163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A434F"/>
                </a:solidFill>
                <a:latin typeface="Consolas"/>
                <a:ea typeface="Consolas"/>
                <a:cs typeface="Consolas"/>
              </a:rPr>
              <a:t>vLLM  0.30.0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712463"/>
            <a:ext cx="316382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480"/>
                </a:solidFill>
                <a:latin typeface="微软雅黑"/>
                <a:ea typeface="微软雅黑"/>
                <a:cs typeface="微软雅黑"/>
              </a:rPr>
              <a:t>主仓一行不改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65176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5B66"/>
                </a:solidFill>
                <a:latin typeface="微软雅黑"/>
                <a:ea typeface="微软雅黑"/>
                <a:cs typeface="微软雅黑"/>
              </a:rPr>
              <a:t>vllm-ascend  ·  插件 + patch 外壳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389120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entry 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4389120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NPUPlatform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48672" y="4389120"/>
            <a:ext cx="115214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patch/*.py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773168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A5B66"/>
                </a:solidFill>
                <a:latin typeface="微软雅黑"/>
                <a:ea typeface="微软雅黑"/>
                <a:cs typeface="微软雅黑"/>
              </a:rPr>
              <a:t>Ascend 适配全部收在这一层里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它怎么接入 vLLM：两个机制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CHAPTER 02  /  HOW IT PLUGS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25296"/>
            <a:ext cx="5440680" cy="1755648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1225296"/>
            <a:ext cx="5440680" cy="402336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2801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机制一 · 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被发现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298448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4DADA"/>
                </a:solidFill>
                <a:latin typeface="Consolas"/>
                <a:ea typeface="Consolas"/>
                <a:cs typeface="Consolas"/>
              </a:rPr>
              <a:t>entry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764792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175564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setup.py  </a:t>
            </a: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登记 vllm.platform_plugins: ascend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40864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331720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register()  </a:t>
            </a: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vLLM 启动扫 site-packages → 拿回 NPUPlatform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225296"/>
            <a:ext cx="5440680" cy="1755648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5352" y="1225296"/>
            <a:ext cx="5440680" cy="402336"/>
          </a:xfrm>
          <a:prstGeom prst="roundRect">
            <a:avLst>
              <a:gd name="adj" fmla="val 10000"/>
            </a:avLst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12801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机制二 · 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改行为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1298448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6EEF1"/>
                </a:solidFill>
                <a:latin typeface="Consolas"/>
                <a:ea typeface="Consolas"/>
                <a:cs typeface="Consolas"/>
              </a:rPr>
              <a:t>MonkeyPatch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1764792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A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175564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patch/*  </a:t>
            </a: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以 import 副作用生效；约 48 个文件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340864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8A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2331720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重绑  </a:t>
            </a: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把 vLLM 内部属性 / 方法换成 Ascend 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200400"/>
            <a:ext cx="3547872" cy="512064"/>
          </a:xfrm>
          <a:prstGeom prst="roundRect">
            <a:avLst>
              <a:gd name="adj" fmla="val 10000"/>
            </a:avLst>
          </a:prstGeom>
          <a:solidFill>
            <a:srgbClr val="2B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3255264"/>
            <a:ext cx="33101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vLLM</a:t>
            </a:r>
            <a:r>
              <a:rPr sz="1000" b="0" i="0">
                <a:solidFill>
                  <a:srgbClr val="C9D1DC"/>
                </a:solidFill>
                <a:latin typeface="微软雅黑"/>
                <a:ea typeface="微软雅黑"/>
                <a:cs typeface="微软雅黑"/>
              </a:rPr>
              <a:t>  主仓 · 一行不改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63240" y="2980944"/>
            <a:ext cx="1783080" cy="219456"/>
          </a:xfrm>
          <a:prstGeom prst="line">
            <a:avLst/>
          </a:prstGeom>
          <a:ln w="1778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333488" y="2980944"/>
            <a:ext cx="1792224" cy="219456"/>
          </a:xfrm>
          <a:prstGeom prst="line">
            <a:avLst/>
          </a:prstGeom>
          <a:ln w="17780">
            <a:solidFill>
              <a:srgbClr val="0E7C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1207" y="393192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8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BOOT  LOG  /  两行证据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169663"/>
            <a:ext cx="11183112" cy="1170432"/>
          </a:xfrm>
          <a:prstGeom prst="roundRect">
            <a:avLst>
              <a:gd name="adj" fmla="val 3500"/>
            </a:avLst>
          </a:prstGeom>
          <a:solidFill>
            <a:srgbClr val="0B1320"/>
          </a:solidFill>
          <a:ln w="1016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02920" y="4169663"/>
            <a:ext cx="11183112" cy="274320"/>
          </a:xfrm>
          <a:prstGeom prst="roundRect">
            <a:avLst>
              <a:gd name="adj" fmla="val 35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4352544"/>
            <a:ext cx="11183112" cy="91440"/>
          </a:xfrm>
          <a:prstGeom prst="rect">
            <a:avLst/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9224" y="4265676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04672" y="4265676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0120" y="4265676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88720" y="4219955"/>
            <a:ext cx="1036015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DA5"/>
                </a:solidFill>
                <a:latin typeface="Consolas"/>
                <a:ea typeface="Consolas"/>
                <a:cs typeface="Consolas"/>
              </a:rPr>
              <a:t>vllm serve  ·  plugin discovery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" y="4553712"/>
            <a:ext cx="1089050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 dirty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60" b="0" i="0" dirty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__init__.py:54                 </a:t>
            </a:r>
            <a:r>
              <a:rPr sz="900" b="0" i="0" dirty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Available plugins for group </a:t>
            </a:r>
            <a:r>
              <a:rPr sz="900" b="0" i="0" dirty="0" err="1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vllm.platform_plugins</a:t>
            </a:r>
            <a:r>
              <a:rPr sz="900" b="0" i="0" dirty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: - ascend -&gt; </a:t>
            </a:r>
            <a:r>
              <a:rPr sz="900" b="0" i="0" dirty="0" err="1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vllm_ascend:register</a:t>
            </a:r>
            <a:endParaRPr sz="900" b="0" i="0" dirty="0">
              <a:solidFill>
                <a:srgbClr val="D7E2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9224" y="4864607"/>
            <a:ext cx="1089050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6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__init__.py:272                </a:t>
            </a:r>
            <a:r>
              <a:rPr sz="90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Platform plugin ascend is activated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结构总览：六大层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CHAPTER 03  /  THE SIX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170432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请求从第 1 层进、第 6 层出，中间四层各司其职。本页只列层，不列模块。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81328"/>
            <a:ext cx="11183112" cy="585216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481328"/>
            <a:ext cx="91440" cy="585216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6384" y="1609344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58191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平台与前端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61848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请求入口 + Ascend 接入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1609344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7C8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7C8798"/>
                </a:solidFill>
                <a:latin typeface="微软雅黑"/>
                <a:ea typeface="微软雅黑"/>
                <a:cs typeface="微软雅黑"/>
              </a:rPr>
              <a:t>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04825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3CAD3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121408"/>
            <a:ext cx="11183112" cy="585216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2121408"/>
            <a:ext cx="91440" cy="585216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6384" y="2249424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222199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引擎层 EngineCore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25856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每个 DP rank 的大脑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2249424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7C8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7C8798"/>
                </a:solidFill>
                <a:latin typeface="微软雅黑"/>
                <a:ea typeface="微软雅黑"/>
                <a:cs typeface="微软雅黑"/>
              </a:rPr>
              <a:t>调度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68833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3CAD3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761488"/>
            <a:ext cx="11183112" cy="585216"/>
          </a:xfrm>
          <a:prstGeom prst="roundRect">
            <a:avLst>
              <a:gd name="adj" fmla="val 5000"/>
            </a:avLst>
          </a:prstGeom>
          <a:solidFill>
            <a:srgbClr val="FD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2761488"/>
            <a:ext cx="91440" cy="585216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86384" y="2889504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286207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执行层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289864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把指令广播到 Worker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4160" y="2889504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广播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32841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3CAD3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401568"/>
            <a:ext cx="11183112" cy="585216"/>
          </a:xfrm>
          <a:prstGeom prst="roundRect">
            <a:avLst>
              <a:gd name="adj" fmla="val 5000"/>
            </a:avLst>
          </a:prstGeom>
          <a:solidFill>
            <a:srgbClr val="ED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3401568"/>
            <a:ext cx="91440" cy="585216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86384" y="3529584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350215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计算层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53872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真正做计算的地方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24160" y="3529584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E7C8A"/>
                </a:solidFill>
                <a:latin typeface="微软雅黑"/>
                <a:ea typeface="微软雅黑"/>
                <a:cs typeface="微软雅黑"/>
              </a:rPr>
              <a:t>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96849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3CAD3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041648"/>
            <a:ext cx="11183112" cy="585216"/>
          </a:xfrm>
          <a:prstGeom prst="roundRect">
            <a:avLst>
              <a:gd name="adj" fmla="val 5000"/>
            </a:avLst>
          </a:prstGeom>
          <a:solidFill>
            <a:srgbClr val="FD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4041648"/>
            <a:ext cx="91440" cy="585216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86384" y="4169664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1872" y="414223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采样 · 编译 · 调优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17880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编译成图并调优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0" y="4169664"/>
            <a:ext cx="1417320" cy="32918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05621"/>
                </a:solidFill>
                <a:latin typeface="微软雅黑"/>
                <a:ea typeface="微软雅黑"/>
                <a:cs typeface="微软雅黑"/>
              </a:rPr>
              <a:t>编译 / 规划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608576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C3CAD3"/>
                </a:solidFill>
                <a:latin typeface="Consolas"/>
                <a:ea typeface="Consolas"/>
                <a:cs typeface="Consolas"/>
              </a:rP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681728"/>
            <a:ext cx="11183112" cy="585216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2920" y="4681728"/>
            <a:ext cx="91440" cy="585216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86384" y="4809744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61872" y="478231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4818888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把 token 送回请求方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424160" y="4809744"/>
            <a:ext cx="1051560" cy="32918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7C8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7C8798"/>
                </a:solidFill>
                <a:latin typeface="微软雅黑"/>
                <a:ea typeface="微软雅黑"/>
                <a:cs typeface="微软雅黑"/>
              </a:rPr>
              <a:t>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01  /  PLATFORM &amp;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1 · 平台与前端：它管什么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01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115568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请求从这里进，Ascend 从这里被接入。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81328"/>
            <a:ext cx="2057400" cy="21396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481328"/>
            <a:ext cx="20574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160934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18653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CLI /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2267712"/>
            <a:ext cx="17830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几十个参数
→ 一份 VllmConfig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43230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9776" y="1481328"/>
            <a:ext cx="2057400" cy="21396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79776" y="1481328"/>
            <a:ext cx="20574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160934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18653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插件系统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267712"/>
            <a:ext cx="17830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发现 ascend
插件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6" y="243230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56632" y="1481328"/>
            <a:ext cx="2057400" cy="21396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56632" y="1481328"/>
            <a:ext cx="2057400" cy="4572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02936" y="160934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18653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2267712"/>
            <a:ext cx="17830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设备 / dtype / 后端 /
量化的总接口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243230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33488" y="1481328"/>
            <a:ext cx="2057400" cy="21396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33488" y="1481328"/>
            <a:ext cx="2057400" cy="4572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79792" y="160934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18653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patch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267712"/>
            <a:ext cx="17830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import 时
改写 vLLM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8" y="2432304"/>
            <a:ext cx="1828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10344" y="1481328"/>
            <a:ext cx="2057400" cy="21396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10344" y="1481328"/>
            <a:ext cx="20574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56648" y="1609344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18653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API Server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648" y="2267712"/>
            <a:ext cx="17830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对外提供
HTTP 入口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7" y="385876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产 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297680"/>
            <a:ext cx="4892040" cy="786384"/>
          </a:xfrm>
          <a:prstGeom prst="roundRect">
            <a:avLst>
              <a:gd name="adj" fmla="val 5000"/>
            </a:avLst>
          </a:prstGeom>
          <a:solidFill>
            <a:srgbClr val="FCF5F5"/>
          </a:solidFill>
          <a:ln w="12700">
            <a:solidFill>
              <a:srgbClr val="E7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38912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一份 </a:t>
            </a:r>
            <a:r>
              <a:rPr sz="15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VllmConfig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00016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后续每个模块都从这里读取自己那一份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5577840" y="4581144"/>
            <a:ext cx="566928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327648" y="4297680"/>
            <a:ext cx="5358384" cy="786384"/>
          </a:xfrm>
          <a:prstGeom prst="roundRect">
            <a:avLst>
              <a:gd name="adj" fmla="val 5000"/>
            </a:avLst>
          </a:prstGeom>
          <a:solidFill>
            <a:srgbClr val="2B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4389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API Server</a:t>
            </a:r>
            <a:r>
              <a:rPr sz="130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   :8017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700016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D1DC"/>
                </a:solidFill>
                <a:latin typeface="微软雅黑"/>
                <a:ea typeface="微软雅黑"/>
                <a:cs typeface="微软雅黑"/>
              </a:rPr>
              <a:t>对外提供 HTTP，8 个 API server 进程各持一份路由表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01  / 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1 · 日志实证：发现 → 激活 → 改写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01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325880"/>
            <a:ext cx="7452360" cy="2788920"/>
          </a:xfrm>
          <a:prstGeom prst="roundRect">
            <a:avLst>
              <a:gd name="adj" fmla="val 3500"/>
            </a:avLst>
          </a:prstGeom>
          <a:solidFill>
            <a:srgbClr val="0B1320"/>
          </a:solidFill>
          <a:ln w="1016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1325880"/>
            <a:ext cx="7452360" cy="274320"/>
          </a:xfrm>
          <a:prstGeom prst="roundRect">
            <a:avLst>
              <a:gd name="adj" fmla="val 35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508760"/>
            <a:ext cx="7452360" cy="91440"/>
          </a:xfrm>
          <a:prstGeom prst="rect">
            <a:avLst/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9224" y="1421892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04672" y="1421892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1421892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1376172"/>
            <a:ext cx="66294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DA5"/>
                </a:solidFill>
                <a:latin typeface="Consolas"/>
                <a:ea typeface="Consolas"/>
                <a:cs typeface="Consolas"/>
              </a:rPr>
              <a:t>vllm serve  ·  boot log  (16:35:31 → 16:35:39)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1709928"/>
            <a:ext cx="7159752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919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__init__.py:54                 </a:t>
            </a:r>
            <a:r>
              <a:rPr sz="96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Available plugins ... - ascend -&gt; vllm_ascend:register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2423160"/>
            <a:ext cx="7159752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919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__init__.py:272                </a:t>
            </a:r>
            <a:r>
              <a:rPr sz="96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Platform plugin ascend is activated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136392"/>
            <a:ext cx="7159752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919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patch_kv_cache_dtype.py:115    </a:t>
            </a:r>
            <a:r>
              <a:rPr sz="96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Patched CacheConfig.cache_dtype to accept 'int8'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664208"/>
            <a:ext cx="3383280" cy="603504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1664208"/>
            <a:ext cx="45720" cy="6035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172821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719072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1719072"/>
            <a:ext cx="2249424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扫描 site-packages，
找到 ascend 插件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8028431" y="1755648"/>
            <a:ext cx="246889" cy="210312"/>
          </a:xfrm>
          <a:prstGeom prst="line">
            <a:avLst/>
          </a:prstGeom>
          <a:ln w="10160">
            <a:solidFill>
              <a:srgbClr val="C9CF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75320" y="2359152"/>
            <a:ext cx="3383280" cy="603504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20" y="2359152"/>
            <a:ext cx="45720" cy="6035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242316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414016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激活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2414016"/>
            <a:ext cx="2249424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NPUPlatform 接管
设备与后端选择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8028431" y="2415844"/>
            <a:ext cx="246889" cy="245060"/>
          </a:xfrm>
          <a:prstGeom prst="line">
            <a:avLst/>
          </a:prstGeom>
          <a:ln w="10160">
            <a:solidFill>
              <a:srgbClr val="C9CF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75320" y="3054096"/>
            <a:ext cx="3383280" cy="603504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75320" y="3054096"/>
            <a:ext cx="45720" cy="6035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3118103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108960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改写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3108960"/>
            <a:ext cx="2249424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import 时重绑
CacheConfig 校验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8028431" y="3076041"/>
            <a:ext cx="246889" cy="279807"/>
          </a:xfrm>
          <a:prstGeom prst="line">
            <a:avLst/>
          </a:prstGeom>
          <a:ln w="10160">
            <a:solidFill>
              <a:srgbClr val="C9CF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02920" y="4407408"/>
            <a:ext cx="7452360" cy="731520"/>
          </a:xfrm>
          <a:prstGeom prst="roundRect">
            <a:avLst>
              <a:gd name="adj" fmla="val 5000"/>
            </a:avLst>
          </a:prstGeom>
          <a:solidFill>
            <a:srgbClr val="FC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4407408"/>
            <a:ext cx="54864" cy="731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4462272"/>
            <a:ext cx="704088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三条日志，正好对应 </a:t>
            </a:r>
            <a:r>
              <a:rPr sz="12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发现 → 激活 → 改写</a:t>
            </a:r>
            <a:r>
              <a:rPr sz="11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 三步。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462272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banner 与 non-default args
也在这一层 —— 配置错最先在这里现形。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02  /  ENGINE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2 · 引擎层 EngineCore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02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133856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每个 DP rank 的“大脑”，跑主循环：调度 → 执行 → 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517904"/>
            <a:ext cx="5532120" cy="786384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517904"/>
            <a:ext cx="45720" cy="786384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163677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EngineCore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1655063"/>
            <a:ext cx="312724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V1 引擎主循环：run_busy_loop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14015"/>
            <a:ext cx="5532120" cy="786384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414015"/>
            <a:ext cx="45720" cy="786384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532887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2551175"/>
            <a:ext cx="312724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准入 + token 预算 + KV block 分配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10127"/>
            <a:ext cx="5532120" cy="786384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310127"/>
            <a:ext cx="45720" cy="786384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428999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KV Cache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24912" y="3447287"/>
            <a:ext cx="312724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管理每 rank 的 KV block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325880"/>
            <a:ext cx="5330952" cy="2697480"/>
          </a:xfrm>
          <a:prstGeom prst="roundRect">
            <a:avLst>
              <a:gd name="adj" fmla="val 4000"/>
            </a:avLst>
          </a:prstGeom>
          <a:solidFill>
            <a:srgbClr val="FBFBFC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1426464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EngineCore  ·  run_busy_loop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1883664"/>
            <a:ext cx="13716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schedule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883664"/>
            <a:ext cx="13716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execute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1883664"/>
            <a:ext cx="137160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output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028431" y="2057400"/>
            <a:ext cx="164592" cy="164592"/>
          </a:xfrm>
          <a:prstGeom prst="rightArrow">
            <a:avLst/>
          </a:prstGeom>
          <a:solidFill>
            <a:srgbClr val="C9C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9628632" y="2057400"/>
            <a:ext cx="164592" cy="164592"/>
          </a:xfrm>
          <a:prstGeom prst="rightArrow">
            <a:avLst/>
          </a:prstGeom>
          <a:solidFill>
            <a:srgbClr val="C9C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10515600" y="2414016"/>
            <a:ext cx="0" cy="310896"/>
          </a:xfrm>
          <a:prstGeom prst="line">
            <a:avLst/>
          </a:prstGeom>
          <a:ln w="12700">
            <a:solidFill>
              <a:srgbClr val="C9C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315200" y="2724912"/>
            <a:ext cx="3200400" cy="0"/>
          </a:xfrm>
          <a:prstGeom prst="line">
            <a:avLst/>
          </a:prstGeom>
          <a:ln w="12700">
            <a:solidFill>
              <a:srgbClr val="C9CF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315200" y="2432304"/>
            <a:ext cx="0" cy="292608"/>
          </a:xfrm>
          <a:prstGeom prst="line">
            <a:avLst/>
          </a:prstGeom>
          <a:ln w="12700">
            <a:solidFill>
              <a:srgbClr val="C9CFD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32520" y="277977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下一步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310896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A6472"/>
                </a:solidFill>
                <a:latin typeface="Consolas"/>
                <a:ea typeface="Consolas"/>
                <a:cs typeface="Consolas"/>
              </a:rPr>
              <a:t>init engine</a:t>
            </a:r>
            <a:r>
              <a:rPr sz="85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（profile · KV · warmup）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3017520"/>
            <a:ext cx="187451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20.12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419856"/>
            <a:ext cx="187451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单 rank 初始化耗时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187952"/>
            <a:ext cx="11183112" cy="1152144"/>
          </a:xfrm>
          <a:prstGeom prst="roundRect">
            <a:avLst>
              <a:gd name="adj" fmla="val 3500"/>
            </a:avLst>
          </a:prstGeom>
          <a:solidFill>
            <a:srgbClr val="0B1320"/>
          </a:solidFill>
          <a:ln w="1016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02920" y="4187952"/>
            <a:ext cx="11183112" cy="274320"/>
          </a:xfrm>
          <a:prstGeom prst="roundRect">
            <a:avLst>
              <a:gd name="adj" fmla="val 35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4370832"/>
            <a:ext cx="11183112" cy="91440"/>
          </a:xfrm>
          <a:prstGeom prst="rect">
            <a:avLst/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9224" y="4283964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04672" y="4283964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60120" y="4283964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4238244"/>
            <a:ext cx="1036015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DA5"/>
                </a:solidFill>
                <a:latin typeface="Consolas"/>
                <a:ea typeface="Consolas"/>
                <a:cs typeface="Consolas"/>
              </a:rPr>
              <a:t>EngineCore  ·  init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" y="4572000"/>
            <a:ext cx="1089050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6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core.py:123                    </a:t>
            </a:r>
            <a:r>
              <a:rPr sz="90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Initializing a V1 LLM engine (v0.30.0) with config: … data_parallel_size=8 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" y="4901184"/>
            <a:ext cx="1089050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6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core.py:379                    </a:t>
            </a:r>
            <a:r>
              <a:rPr sz="90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init engine (profile, create kv cache, warmup) took 20.12 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03  / 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3 · 执行层：把指令广播到干活的进程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03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61872"/>
            <a:ext cx="2971800" cy="7680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35331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进程编排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627631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主进程拉起并监控所有子进程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21408"/>
            <a:ext cx="2971800" cy="7680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21284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Executor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8716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把 SchedulerOutput 广播给各 Worker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80944"/>
            <a:ext cx="2971800" cy="7680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072384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NPUWorker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46703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本进程内的设备与模型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5032" y="1261872"/>
            <a:ext cx="8001000" cy="2560320"/>
          </a:xfrm>
          <a:prstGeom prst="roundRect">
            <a:avLst>
              <a:gd name="adj" fmla="val 4000"/>
            </a:avLst>
          </a:prstGeom>
          <a:solidFill>
            <a:srgbClr val="FBFBFC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89320" y="1371600"/>
            <a:ext cx="3520440" cy="365760"/>
          </a:xfrm>
          <a:prstGeom prst="roundRect">
            <a:avLst>
              <a:gd name="adj" fmla="val 10000"/>
            </a:avLst>
          </a:prstGeom>
          <a:solidFill>
            <a:srgbClr val="2B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vllm serve</a:t>
            </a:r>
            <a:r>
              <a:rPr sz="900" b="0" i="0">
                <a:solidFill>
                  <a:srgbClr val="C9D1DC"/>
                </a:solidFill>
                <a:latin typeface="微软雅黑"/>
                <a:ea typeface="微软雅黑"/>
                <a:cs typeface="微软雅黑"/>
              </a:rPr>
              <a:t>  主进程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22191" y="2011680"/>
            <a:ext cx="19659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API Server  ×8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2468880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FastAPI + 引擎客户端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011680"/>
            <a:ext cx="201168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DP 协调器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46888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汇总各 rank 负载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011680"/>
            <a:ext cx="19659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7C8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EngineCore  ×8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468880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每个 DP rank 一个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800600" y="1737360"/>
            <a:ext cx="2944368" cy="274320"/>
          </a:xfrm>
          <a:prstGeom prst="line">
            <a:avLst/>
          </a:prstGeom>
          <a:ln w="12700">
            <a:solidFill>
              <a:srgbClr val="B9C1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360920" y="1737360"/>
            <a:ext cx="384048" cy="274320"/>
          </a:xfrm>
          <a:prstGeom prst="line">
            <a:avLst/>
          </a:prstGeom>
          <a:ln w="12700">
            <a:solidFill>
              <a:srgbClr val="B9C1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44968" y="1737360"/>
            <a:ext cx="1874520" cy="274320"/>
          </a:xfrm>
          <a:prstGeom prst="line">
            <a:avLst/>
          </a:prstGeom>
          <a:ln w="12700">
            <a:solidFill>
              <a:srgbClr val="B9C1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641080" y="2834640"/>
            <a:ext cx="1965960" cy="420624"/>
          </a:xfrm>
          <a:prstGeom prst="roundRect">
            <a:avLst>
              <a:gd name="adj" fmla="val 8000"/>
            </a:avLst>
          </a:prstGeom>
          <a:solidFill>
            <a:srgbClr val="E8F5F6"/>
          </a:solidFill>
          <a:ln w="1397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A5B66"/>
                </a:solidFill>
                <a:latin typeface="微软雅黑"/>
                <a:ea typeface="微软雅黑"/>
                <a:cs typeface="微软雅黑"/>
              </a:rPr>
              <a:t>NPUWorker  ×8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19488" y="2615184"/>
            <a:ext cx="0" cy="219456"/>
          </a:xfrm>
          <a:prstGeom prst="line">
            <a:avLst/>
          </a:prstGeom>
          <a:ln w="13970">
            <a:solidFill>
              <a:srgbClr val="0E7C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41080" y="3310128"/>
            <a:ext cx="1965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Worker_DPx_EPx pid=…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2191" y="3072384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per-rank 代码在每个进程各跑一遍；
patch 与配置校验在每个进程 import 时各跑一次。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950208"/>
            <a:ext cx="11183112" cy="566928"/>
          </a:xfrm>
          <a:prstGeom prst="roundRect">
            <a:avLst>
              <a:gd name="adj" fmla="val 5000"/>
            </a:avLst>
          </a:prstGeom>
          <a:solidFill>
            <a:srgbClr val="FC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4023360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4752" y="405993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进程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0512" y="4069080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76272" y="4032504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50591" y="40782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× 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46704" y="4032504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21024" y="40782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× API Server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19472" y="4032504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93792" y="40782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× DP 协调器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4032504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4224" y="40782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× EngineCore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0336" y="4032504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34656" y="40782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× NPUWorker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4663439"/>
            <a:ext cx="11183112" cy="841247"/>
          </a:xfrm>
          <a:prstGeom prst="roundRect">
            <a:avLst>
              <a:gd name="adj" fmla="val 3500"/>
            </a:avLst>
          </a:prstGeom>
          <a:solidFill>
            <a:srgbClr val="0B1320"/>
          </a:solidFill>
          <a:ln w="1016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02920" y="4663440"/>
            <a:ext cx="11183112" cy="274320"/>
          </a:xfrm>
          <a:prstGeom prst="roundRect">
            <a:avLst>
              <a:gd name="adj" fmla="val 35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2920" y="4846320"/>
            <a:ext cx="11183112" cy="91440"/>
          </a:xfrm>
          <a:prstGeom prst="rect">
            <a:avLst/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49224" y="4759452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4672" y="4759452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60120" y="4759452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88720" y="4713731"/>
            <a:ext cx="1036015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DA5"/>
                </a:solidFill>
                <a:latin typeface="Consolas"/>
                <a:ea typeface="Consolas"/>
                <a:cs typeface="Consolas"/>
              </a:rPr>
              <a:t>process topology  ·  samples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" y="5047488"/>
            <a:ext cx="10890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4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utils.py:253                   </a:t>
            </a:r>
            <a:r>
              <a:rPr sz="88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Started 8 API server processes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" y="5266944"/>
            <a:ext cx="108905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 dirty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40" b="0" i="0" dirty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parallel_state.py:2267         </a:t>
            </a:r>
            <a:r>
              <a:rPr sz="880" b="0" i="0" dirty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rank 2 … is assigned as DP rank 2, PP rank 0, TP rank 0, EP rank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04  / 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4 · 计算层：模块与运行时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04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115568"/>
            <a:ext cx="107899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真正做计算的地方；运行时组输入 → forward → 采样。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63040"/>
            <a:ext cx="6629400" cy="7680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463040"/>
            <a:ext cx="45720" cy="768096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155448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ModelRunner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1572768"/>
            <a:ext cx="38404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组输入、跑 forward、触发采样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22576"/>
            <a:ext cx="6629400" cy="7680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322576"/>
            <a:ext cx="45720" cy="768096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414016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并行状态 / 通信器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2432304"/>
            <a:ext cx="38404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DP / EP / TP 的通信底座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82112"/>
            <a:ext cx="6629400" cy="7680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182112"/>
            <a:ext cx="45720" cy="768096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273552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模型注册 / 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291840"/>
            <a:ext cx="38404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GLM 等模型在 Ascend 上的实现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41648"/>
            <a:ext cx="6629400" cy="768096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4041648"/>
            <a:ext cx="45720" cy="768096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133087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投机推理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4151376"/>
            <a:ext cx="384048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MTP 草稿模型管理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1261872"/>
            <a:ext cx="4325112" cy="3474720"/>
          </a:xfrm>
          <a:prstGeom prst="roundRect">
            <a:avLst>
              <a:gd name="adj" fmla="val 4000"/>
            </a:avLst>
          </a:prstGeom>
          <a:solidFill>
            <a:srgbClr val="FBFBFC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43800" y="1371600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6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SINGLE  WORKER  /  INSIDE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1664208"/>
            <a:ext cx="25146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_prepare_inputs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input_ids · positions · block table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28048" y="2103120"/>
            <a:ext cx="0" cy="201168"/>
          </a:xfrm>
          <a:prstGeom prst="line">
            <a:avLst/>
          </a:prstGeom>
          <a:ln w="12700">
            <a:solidFill>
              <a:srgbClr val="B9C1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955279" y="2304288"/>
            <a:ext cx="3154680" cy="1280160"/>
          </a:xfrm>
          <a:prstGeom prst="roundRect">
            <a:avLst>
              <a:gd name="adj" fmla="val 8000"/>
            </a:avLst>
          </a:prstGeom>
          <a:solidFill>
            <a:srgbClr val="E8F5F6"/>
          </a:solidFill>
          <a:ln w="1397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2377440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forward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3" y="26517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Attention 读写 KV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46336" y="26517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B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6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MoE 路由  EP=8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072384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ACL 图回放  ·  decode-FULL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291840"/>
            <a:ext cx="2971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逐层计算：写回 KV + 专家并行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528048" y="3584448"/>
            <a:ext cx="0" cy="219456"/>
          </a:xfrm>
          <a:prstGeom prst="line">
            <a:avLst/>
          </a:prstGeom>
          <a:ln w="12700">
            <a:solidFill>
              <a:srgbClr val="B9C1C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275320" y="3803904"/>
            <a:ext cx="25146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sample_tokens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最终 token / logits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4370832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输入 → forward（Attention / MoE 两支）→ 输出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7" y="482803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8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运 行 时 三 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047488"/>
            <a:ext cx="2606040" cy="384048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_prepare_inputs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10128" y="5047488"/>
            <a:ext cx="2331720" cy="384048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forward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70448" y="5047488"/>
            <a:ext cx="1417320" cy="384048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采样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45536" y="5029200"/>
            <a:ext cx="1463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5029200"/>
            <a:ext cx="14630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04  / 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4 · 装资产：权重、量化、专家与投机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04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43584"/>
            <a:ext cx="3639312" cy="1536192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1243584"/>
            <a:ext cx="3639312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13716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权重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645920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53.31 GB</a:t>
            </a:r>
            <a:r>
              <a:rPr sz="1000" b="0" i="0">
                <a:solidFill>
                  <a:srgbClr val="5A6472"/>
                </a:solidFill>
                <a:latin typeface="Consolas"/>
                <a:ea typeface="Consolas"/>
                <a:cs typeface="Consolas"/>
              </a:rPr>
              <a:t> / 50.41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194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8 个 Worker 各读一遍 NFS checkpoint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1243584"/>
            <a:ext cx="3639312" cy="1536192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0248" y="1243584"/>
            <a:ext cx="3639312" cy="4572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13716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645920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E7C8A"/>
                </a:solidFill>
                <a:latin typeface="微软雅黑"/>
                <a:ea typeface="微软雅黑"/>
                <a:cs typeface="微软雅黑"/>
              </a:rPr>
              <a:t>W8A8 + MXFP8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194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modelslim · Ascend 量化方案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1243584"/>
            <a:ext cx="3639312" cy="1536192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37575" y="1243584"/>
            <a:ext cx="3639312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7" y="13716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5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专家 + 投机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7" y="1645920"/>
            <a:ext cx="33375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36 / 288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7" y="21945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本地 / 全局专家；MTP draft 与主模型共享 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294436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6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PARALLEL  LOAD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218688"/>
            <a:ext cx="1993392" cy="1005840"/>
          </a:xfrm>
          <a:prstGeom prst="roundRect">
            <a:avLst>
              <a:gd name="adj" fmla="val 5000"/>
            </a:avLst>
          </a:prstGeom>
          <a:solidFill>
            <a:srgbClr val="E8F5F6"/>
          </a:solidFill>
          <a:ln w="1270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31012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6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NFS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54787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314 GiB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5876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A6472"/>
                </a:solidFill>
                <a:latin typeface="Consolas"/>
                <a:ea typeface="Consolas"/>
                <a:cs typeface="Consolas"/>
              </a:rPr>
              <a:t>checkpoint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578608" y="3584448"/>
            <a:ext cx="713232" cy="274320"/>
          </a:xfrm>
          <a:prstGeom prst="rightArrow">
            <a:avLst/>
          </a:prstGeom>
          <a:solidFill>
            <a:srgbClr val="A9C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438144" y="3255264"/>
            <a:ext cx="804672" cy="932688"/>
          </a:xfrm>
          <a:prstGeom prst="roundRect">
            <a:avLst>
              <a:gd name="adj" fmla="val 5000"/>
            </a:avLst>
          </a:prstGeom>
          <a:solidFill>
            <a:srgbClr val="F4FAFB"/>
          </a:solidFill>
          <a:ln w="10160">
            <a:solidFill>
              <a:srgbClr val="C4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38144" y="3584448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W1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53128" y="3255264"/>
            <a:ext cx="804672" cy="932688"/>
          </a:xfrm>
          <a:prstGeom prst="roundRect">
            <a:avLst>
              <a:gd name="adj" fmla="val 5000"/>
            </a:avLst>
          </a:prstGeom>
          <a:solidFill>
            <a:srgbClr val="F4FAFB"/>
          </a:solidFill>
          <a:ln w="10160">
            <a:solidFill>
              <a:srgbClr val="C4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53128" y="3584448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W2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68112" y="3255264"/>
            <a:ext cx="804672" cy="932688"/>
          </a:xfrm>
          <a:prstGeom prst="roundRect">
            <a:avLst>
              <a:gd name="adj" fmla="val 5000"/>
            </a:avLst>
          </a:prstGeom>
          <a:solidFill>
            <a:srgbClr val="F4FAFB"/>
          </a:solidFill>
          <a:ln w="10160">
            <a:solidFill>
              <a:srgbClr val="C4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68112" y="3584448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W3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83096" y="3255264"/>
            <a:ext cx="804672" cy="932688"/>
          </a:xfrm>
          <a:prstGeom prst="roundRect">
            <a:avLst>
              <a:gd name="adj" fmla="val 5000"/>
            </a:avLst>
          </a:prstGeom>
          <a:solidFill>
            <a:srgbClr val="F4FAFB"/>
          </a:solidFill>
          <a:ln w="10160">
            <a:solidFill>
              <a:srgbClr val="C4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83096" y="3584448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W4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79" y="3255264"/>
            <a:ext cx="804672" cy="932688"/>
          </a:xfrm>
          <a:prstGeom prst="roundRect">
            <a:avLst>
              <a:gd name="adj" fmla="val 5000"/>
            </a:avLst>
          </a:prstGeom>
          <a:solidFill>
            <a:srgbClr val="F4FAFB"/>
          </a:solidFill>
          <a:ln w="10160">
            <a:solidFill>
              <a:srgbClr val="C4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79" y="3584448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W5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13064" y="3255264"/>
            <a:ext cx="804672" cy="932688"/>
          </a:xfrm>
          <a:prstGeom prst="roundRect">
            <a:avLst>
              <a:gd name="adj" fmla="val 5000"/>
            </a:avLst>
          </a:prstGeom>
          <a:solidFill>
            <a:srgbClr val="F4FAFB"/>
          </a:solidFill>
          <a:ln w="10160">
            <a:solidFill>
              <a:srgbClr val="C4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13064" y="3584448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W6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8048" y="3255264"/>
            <a:ext cx="804672" cy="932688"/>
          </a:xfrm>
          <a:prstGeom prst="roundRect">
            <a:avLst>
              <a:gd name="adj" fmla="val 5000"/>
            </a:avLst>
          </a:prstGeom>
          <a:solidFill>
            <a:srgbClr val="F4FAFB"/>
          </a:solidFill>
          <a:ln w="10160">
            <a:solidFill>
              <a:srgbClr val="C4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28048" y="3584448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W7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43032" y="3255264"/>
            <a:ext cx="804672" cy="932688"/>
          </a:xfrm>
          <a:prstGeom prst="roundRect">
            <a:avLst>
              <a:gd name="adj" fmla="val 5000"/>
            </a:avLst>
          </a:prstGeom>
          <a:solidFill>
            <a:srgbClr val="F4FAFB"/>
          </a:solidFill>
          <a:ln w="10160">
            <a:solidFill>
              <a:srgbClr val="C4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43032" y="3584448"/>
            <a:ext cx="804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W8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8144" y="4261104"/>
            <a:ext cx="8138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8 个 NPUWorker 各读一份同一 checkpoint，NFS 是启动期主要瓶颈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4517136"/>
            <a:ext cx="11183112" cy="859536"/>
          </a:xfrm>
          <a:prstGeom prst="roundRect">
            <a:avLst>
              <a:gd name="adj" fmla="val 3500"/>
            </a:avLst>
          </a:prstGeom>
          <a:solidFill>
            <a:srgbClr val="0B1320"/>
          </a:solidFill>
          <a:ln w="1016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02920" y="4517136"/>
            <a:ext cx="11183112" cy="274320"/>
          </a:xfrm>
          <a:prstGeom prst="roundRect">
            <a:avLst>
              <a:gd name="adj" fmla="val 35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2920" y="4700016"/>
            <a:ext cx="11183112" cy="91440"/>
          </a:xfrm>
          <a:prstGeom prst="rect">
            <a:avLst/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49224" y="4613148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4672" y="4613148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60120" y="4613148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88720" y="4567428"/>
            <a:ext cx="1036015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DA5"/>
                </a:solidFill>
                <a:latin typeface="Consolas"/>
                <a:ea typeface="Consolas"/>
                <a:cs typeface="Consolas"/>
              </a:rPr>
              <a:t>weight loading  ·  8 ranks in parallel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" y="4901184"/>
            <a:ext cx="108905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4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model_runner_v1.py:4449        </a:t>
            </a:r>
            <a:r>
              <a:rPr sz="88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Loading model weights took 53.3064 GB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" y="5157216"/>
            <a:ext cx="108905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4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expert_map_manager.py:245      </a:t>
            </a:r>
            <a:r>
              <a:rPr sz="88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[EP Rank 2/8] Local/global number of experts: 36/288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05  /  COMPILE &amp; KERNELS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5 · 编译与算子：把模型变成可回放的图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05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98448"/>
            <a:ext cx="5230368" cy="129844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6656" y="1463039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1444751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编译 / 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1773936"/>
            <a:ext cx="43434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融合 pass + ACL 图捕获 / 回放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322576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compilation/  ·  acl_graph.py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743200"/>
            <a:ext cx="5230368" cy="129844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76656" y="2907792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288950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算子 / 内核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3218688"/>
            <a:ext cx="43434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ops/ Python 覆盖 · ops/triton/ 内核 · csrc/ 自定义算子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767328"/>
            <a:ext cx="4343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ops/  ·  ops/triton/  ·  csrc/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298448"/>
            <a:ext cx="5696712" cy="2907792"/>
          </a:xfrm>
          <a:prstGeom prst="roundRect">
            <a:avLst>
              <a:gd name="adj" fmla="val 4000"/>
            </a:avLst>
          </a:prstGeom>
          <a:solidFill>
            <a:srgbClr val="FBFBFC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9632" y="1408176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ONE  CAPTURE  →  EVERY 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353312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7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168249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0.25 GiB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847088"/>
            <a:ext cx="5120640" cy="566928"/>
          </a:xfrm>
          <a:prstGeom prst="roundRect">
            <a:avLst>
              <a:gd name="adj" fmla="val 7000"/>
            </a:avLst>
          </a:prstGeom>
          <a:solidFill>
            <a:srgbClr val="FCF5F5"/>
          </a:solidFill>
          <a:ln w="12700">
            <a:solidFill>
              <a:srgbClr val="E7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1929384"/>
            <a:ext cx="28346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图捕获</a:t>
            </a:r>
            <a:r>
              <a:rPr sz="8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  （一次性）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1956816"/>
            <a:ext cx="187451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7 s  ·  0.25 GiB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23960" y="2414016"/>
            <a:ext cx="0" cy="310896"/>
          </a:xfrm>
          <a:prstGeom prst="line">
            <a:avLst/>
          </a:prstGeom>
          <a:ln w="1524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961120" y="245059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capture once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724912"/>
            <a:ext cx="5120640" cy="676656"/>
          </a:xfrm>
          <a:prstGeom prst="roundRect">
            <a:avLst>
              <a:gd name="adj" fmla="val 7000"/>
            </a:avLst>
          </a:prstGeom>
          <a:solidFill>
            <a:srgbClr val="E8F5F6"/>
          </a:solidFill>
          <a:ln w="1524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280720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replay</a:t>
            </a:r>
            <a:r>
              <a:rPr sz="8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  （每次推理）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852928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ACL 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529584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推理时直接回放已捕获的图，省掉逐算子调度开销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794760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Enabled custom fusions: norm_quant, act_quant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370832"/>
            <a:ext cx="11183112" cy="1005840"/>
          </a:xfrm>
          <a:prstGeom prst="roundRect">
            <a:avLst>
              <a:gd name="adj" fmla="val 3500"/>
            </a:avLst>
          </a:prstGeom>
          <a:solidFill>
            <a:srgbClr val="0B1320"/>
          </a:solidFill>
          <a:ln w="1016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4370832"/>
            <a:ext cx="11183112" cy="274320"/>
          </a:xfrm>
          <a:prstGeom prst="roundRect">
            <a:avLst>
              <a:gd name="adj" fmla="val 35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4553712"/>
            <a:ext cx="11183112" cy="91440"/>
          </a:xfrm>
          <a:prstGeom prst="rect">
            <a:avLst/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9224" y="4466844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04672" y="4466844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60120" y="4466844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88720" y="4421124"/>
            <a:ext cx="1036015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DA5"/>
                </a:solidFill>
                <a:latin typeface="Consolas"/>
                <a:ea typeface="Consolas"/>
                <a:cs typeface="Consolas"/>
              </a:rPr>
              <a:t>graph capture  ·  first boot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" y="4754880"/>
            <a:ext cx="10890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4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gpu_model_runner.py:6929       </a:t>
            </a:r>
            <a:r>
              <a:rPr sz="88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Graph capturing finished in 7 secs, took 0.25 GiB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5029200"/>
            <a:ext cx="1089050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4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entry.py:139                   </a:t>
            </a:r>
            <a:r>
              <a:rPr sz="88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ACL graph replay is active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05  /  KV CACHE &amp;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5 · KV 显存与就绪：20.03 GiB 能装多少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05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61872"/>
            <a:ext cx="3246120" cy="1207008"/>
          </a:xfrm>
          <a:prstGeom prst="roundRect">
            <a:avLst>
              <a:gd name="adj" fmla="val 5000"/>
            </a:avLst>
          </a:prstGeom>
          <a:solidFill>
            <a:srgbClr val="FC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389888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45920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20.03 GiB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单 rank 可用 KV 显存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858768" y="1755648"/>
            <a:ext cx="329184" cy="219456"/>
          </a:xfrm>
          <a:prstGeom prst="rightArrow">
            <a:avLst/>
          </a:prstGeom>
          <a:solidFill>
            <a:srgbClr val="D9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51959" y="1261872"/>
            <a:ext cx="3246120" cy="1207008"/>
          </a:xfrm>
          <a:prstGeom prst="roundRect">
            <a:avLst>
              <a:gd name="adj" fmla="val 5000"/>
            </a:avLst>
          </a:prstGeom>
          <a:solidFill>
            <a:srgbClr val="FC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1389888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645920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499,200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0312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KV cache 容量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07808" y="1755648"/>
            <a:ext cx="329184" cy="219456"/>
          </a:xfrm>
          <a:prstGeom prst="rightArrow">
            <a:avLst/>
          </a:prstGeom>
          <a:solidFill>
            <a:srgbClr val="D9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01000" y="1261872"/>
            <a:ext cx="3246120" cy="1207008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1389888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50">
                <a:solidFill>
                  <a:srgbClr val="FFD9D9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1645920"/>
            <a:ext cx="29260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3.75×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103120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FFE3E3"/>
                </a:solidFill>
                <a:latin typeface="微软雅黑"/>
                <a:ea typeface="微软雅黑"/>
                <a:cs typeface="微软雅黑"/>
              </a:rPr>
              <a:t>133k 满长度请求并发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2578608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推导链：剩余显存 → 能放多少 token → 能并发几个满长度请求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287121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8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就 绪 收 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145536"/>
            <a:ext cx="5413248" cy="74980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3145536"/>
            <a:ext cx="45720" cy="74980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22783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NUMA 绑核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5021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把 Worker 绑到对应 NUMA 节点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3145536"/>
            <a:ext cx="5413248" cy="74980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3145536"/>
            <a:ext cx="45720" cy="74980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322783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FastAPI 路由挂载 ×8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502152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8 个 API server 各注册完整路由表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078224"/>
            <a:ext cx="11183112" cy="1298448"/>
          </a:xfrm>
          <a:prstGeom prst="roundRect">
            <a:avLst>
              <a:gd name="adj" fmla="val 3500"/>
            </a:avLst>
          </a:prstGeom>
          <a:solidFill>
            <a:srgbClr val="0B1320"/>
          </a:solidFill>
          <a:ln w="1016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4078224"/>
            <a:ext cx="11183112" cy="274320"/>
          </a:xfrm>
          <a:prstGeom prst="roundRect">
            <a:avLst>
              <a:gd name="adj" fmla="val 35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" y="4261104"/>
            <a:ext cx="11183112" cy="91440"/>
          </a:xfrm>
          <a:prstGeom prst="rect">
            <a:avLst/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9224" y="4174236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04672" y="4174236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60120" y="4174236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88720" y="4128515"/>
            <a:ext cx="1036015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DA5"/>
                </a:solidFill>
                <a:latin typeface="Consolas"/>
                <a:ea typeface="Consolas"/>
                <a:cs typeface="Consolas"/>
              </a:rPr>
              <a:t>kv planning  →  server ready  (16:40:24)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" y="4462272"/>
            <a:ext cx="1089050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4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kv_cache_utils.py:2395         </a:t>
            </a:r>
            <a:r>
              <a:rPr sz="88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NPU KV cache size: 499,200 tokens, … for 133,120 tokens per request: 3.75x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4846320"/>
            <a:ext cx="1089050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40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entry.py:139                   </a:t>
            </a:r>
            <a:r>
              <a:rPr sz="88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Starting vLLM server on http://0.0.0.0:8017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LAYER 06  / 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层 6 · 输出层：把 token 送回请求方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06 / 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261872"/>
            <a:ext cx="3611880" cy="129844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137160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62763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Scheduler 记账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975104"/>
            <a:ext cx="324612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更新请求状态、释放 / 复用 KV block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261872"/>
            <a:ext cx="3611880" cy="129844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7" y="137160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7" y="162763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增量 detokenize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7" y="1975104"/>
            <a:ext cx="324612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token → 文本（RequestState 累积）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1" y="1261872"/>
            <a:ext cx="3611880" cy="129844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38743" y="137160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3" y="162763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返回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3" y="1975104"/>
            <a:ext cx="324612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构造 RequestOutput → HTTP 响应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" y="278892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8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RESPONSE  PATH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090672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7C87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8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token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76272" y="3090672"/>
            <a:ext cx="1874519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8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detokenize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090672"/>
            <a:ext cx="21031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8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RequestOutput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090672"/>
            <a:ext cx="20116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8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HTTP 响应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920240" y="3273552"/>
            <a:ext cx="219456" cy="182880"/>
          </a:xfrm>
          <a:prstGeom prst="rightArrow">
            <a:avLst/>
          </a:prstGeom>
          <a:solidFill>
            <a:srgbClr val="C9C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4050791" y="3273552"/>
            <a:ext cx="219456" cy="182880"/>
          </a:xfrm>
          <a:prstGeom prst="rightArrow">
            <a:avLst/>
          </a:prstGeom>
          <a:solidFill>
            <a:srgbClr val="C9C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6419088" y="3273552"/>
            <a:ext cx="219456" cy="182880"/>
          </a:xfrm>
          <a:prstGeom prst="rightArrow">
            <a:avLst/>
          </a:prstGeom>
          <a:solidFill>
            <a:srgbClr val="C9CF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96528" y="318211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每个增量都走这条路</a:t>
            </a:r>
            <a:r>
              <a:rPr sz="85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（流式）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968496"/>
            <a:ext cx="11183112" cy="1408176"/>
          </a:xfrm>
          <a:prstGeom prst="roundRect">
            <a:avLst>
              <a:gd name="adj" fmla="val 3500"/>
            </a:avLst>
          </a:prstGeom>
          <a:solidFill>
            <a:srgbClr val="0B1320"/>
          </a:solidFill>
          <a:ln w="10160">
            <a:solidFill>
              <a:srgbClr val="223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02920" y="3968496"/>
            <a:ext cx="11183112" cy="274320"/>
          </a:xfrm>
          <a:prstGeom prst="roundRect">
            <a:avLst>
              <a:gd name="adj" fmla="val 3500"/>
            </a:avLst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4151376"/>
            <a:ext cx="11183112" cy="91440"/>
          </a:xfrm>
          <a:prstGeom prst="rect">
            <a:avLst/>
          </a:prstGeom>
          <a:solidFill>
            <a:srgbClr val="11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49224" y="4064508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4672" y="4064508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0120" y="4064508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88720" y="4018787"/>
            <a:ext cx="1036015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E8DA5"/>
                </a:solidFill>
                <a:latin typeface="Consolas"/>
                <a:ea typeface="Consolas"/>
                <a:cs typeface="Consolas"/>
              </a:rPr>
              <a:t>request complete  ·  one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" y="4352544"/>
            <a:ext cx="10890504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45C46A"/>
                </a:solidFill>
                <a:latin typeface="Consolas"/>
                <a:ea typeface="Consolas"/>
                <a:cs typeface="Consolas"/>
              </a:rPr>
              <a:t>INFO </a:t>
            </a:r>
            <a:r>
              <a:rPr sz="819" b="0" i="0">
                <a:solidFill>
                  <a:srgbClr val="5AD1E6"/>
                </a:solidFill>
                <a:latin typeface="Consolas"/>
                <a:ea typeface="Consolas"/>
                <a:cs typeface="Consolas"/>
              </a:rPr>
              <a:t>request_logger.py:98           </a:t>
            </a:r>
            <a:r>
              <a:rPr sz="860" b="0" i="0">
                <a:solidFill>
                  <a:srgbClr val="D7E2F0"/>
                </a:solidFill>
                <a:latin typeface="Consolas"/>
                <a:ea typeface="Consolas"/>
                <a:cs typeface="Consolas"/>
              </a:rPr>
              <a:t>Generated response chatcmpl-…: output: '…', finish_reason: stop, usage: {prompt_tokens: 11, completion_tokens: 312, total_tokens: 323}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5394960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KV block 在这里被还回去，给下一个请求用。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PUTTING  IT  ALL 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一次请求的完整路径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170432"/>
            <a:ext cx="108813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把六层串起来 —— 前端进 → 引擎调度 → 执行广播 → 计算 → 采样 / 编译 → 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554480"/>
            <a:ext cx="1755648" cy="3127248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554480"/>
            <a:ext cx="1755648" cy="45720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" y="16824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1901952"/>
            <a:ext cx="15179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平台与前端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2578608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182112"/>
            <a:ext cx="15179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请求入口 + Ascend 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272491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7C2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59736" y="1554480"/>
            <a:ext cx="1755648" cy="3127248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59736" y="1554480"/>
            <a:ext cx="1755648" cy="45720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87752" y="16824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87752" y="1901952"/>
            <a:ext cx="15179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引擎层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7752" y="2578608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调度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7752" y="3182112"/>
            <a:ext cx="15179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决定本步跑什么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5384" y="272491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7C2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6552" y="1554480"/>
            <a:ext cx="1755648" cy="3127248"/>
          </a:xfrm>
          <a:prstGeom prst="roundRect">
            <a:avLst>
              <a:gd name="adj" fmla="val 5000"/>
            </a:avLst>
          </a:prstGeom>
          <a:solidFill>
            <a:srgbClr val="FD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16552" y="1554480"/>
            <a:ext cx="1755648" cy="4572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16824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1901952"/>
            <a:ext cx="15179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执行层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2578608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广播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3182112"/>
            <a:ext cx="15179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SchedulerOutput → Worker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72491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7C2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73368" y="1554480"/>
            <a:ext cx="1755648" cy="3127248"/>
          </a:xfrm>
          <a:prstGeom prst="roundRect">
            <a:avLst>
              <a:gd name="adj" fmla="val 5000"/>
            </a:avLst>
          </a:prstGeom>
          <a:solidFill>
            <a:srgbClr val="ED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73368" y="1554480"/>
            <a:ext cx="1755648" cy="45720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01384" y="16824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1384" y="1901952"/>
            <a:ext cx="15179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计算层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1384" y="2578608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4" y="3182112"/>
            <a:ext cx="15179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Attention / MoE / ACL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272491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7C2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30184" y="1554480"/>
            <a:ext cx="1755648" cy="3127248"/>
          </a:xfrm>
          <a:prstGeom prst="roundRect">
            <a:avLst>
              <a:gd name="adj" fmla="val 5000"/>
            </a:avLst>
          </a:prstGeom>
          <a:solidFill>
            <a:srgbClr val="FD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330184" y="1554480"/>
            <a:ext cx="1755648" cy="4572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58200" y="16824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1901952"/>
            <a:ext cx="15179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采样·编译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2578608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05621"/>
                </a:solidFill>
                <a:latin typeface="Consolas"/>
                <a:ea typeface="Consolas"/>
                <a:cs typeface="Consolas"/>
              </a:rPr>
              <a:t>编译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3182112"/>
            <a:ext cx="15179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KV 规划 · 图 · 采样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5832" y="2724912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EB7C2"/>
                </a:solidFill>
                <a:latin typeface="Consolas"/>
                <a:ea typeface="Consolas"/>
                <a:cs typeface="Consolas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87000" y="1554480"/>
            <a:ext cx="1755648" cy="3127248"/>
          </a:xfrm>
          <a:prstGeom prst="roundRect">
            <a:avLst>
              <a:gd name="adj" fmla="val 5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287000" y="1554480"/>
            <a:ext cx="1755648" cy="45720"/>
          </a:xfrm>
          <a:prstGeom prst="rect">
            <a:avLst/>
          </a:prstGeom>
          <a:solidFill>
            <a:srgbClr val="7C8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415016" y="1682496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15016" y="1901952"/>
            <a:ext cx="15179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15016" y="2578608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7C8798"/>
                </a:solidFill>
                <a:latin typeface="Consolas"/>
                <a:ea typeface="Consolas"/>
                <a:cs typeface="Consolas"/>
              </a:rPr>
              <a:t>回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15016" y="3182112"/>
            <a:ext cx="151790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detokenize → HTTP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47914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BE9E9"/>
          </a:solidFill>
          <a:ln w="1143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POST /v1/chat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87000" y="4791456"/>
            <a:ext cx="1389888" cy="310896"/>
          </a:xfrm>
          <a:prstGeom prst="roundRect">
            <a:avLst>
              <a:gd name="adj" fmla="val 50000"/>
            </a:avLst>
          </a:prstGeom>
          <a:solidFill>
            <a:srgbClr val="E8F5F6"/>
          </a:solidFill>
          <a:ln w="11430">
            <a:solidFill>
              <a:srgbClr val="0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200 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5212080"/>
            <a:ext cx="111556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同一副骨架，加载时被搭起来，推理时被跑一遍。</a:t>
            </a:r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8FDC601D-D928-45A1-470A-E33A6F3F8A21}"/>
              </a:ext>
            </a:extLst>
          </p:cNvPr>
          <p:cNvSpPr/>
          <p:nvPr/>
        </p:nvSpPr>
        <p:spPr>
          <a:xfrm>
            <a:off x="2069561" y="4911365"/>
            <a:ext cx="8074152" cy="721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总结</a:t>
            </a:r>
            <a:endParaRPr sz="2800" b="1" i="0" dirty="0">
              <a:solidFill>
                <a:srgbClr val="99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WRAP 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1188720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990000"/>
                </a:solidFill>
                <a:latin typeface="Consolas"/>
                <a:ea typeface="Consolas"/>
                <a:cs typeface="Consolas"/>
              </a:rPr>
              <a:t>vLLM-Ascend</a:t>
            </a:r>
            <a:r>
              <a:rPr sz="15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  =  </a:t>
            </a: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插件接入</a:t>
            </a:r>
            <a:r>
              <a:rPr sz="14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  +  </a:t>
            </a: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平台实现</a:t>
            </a:r>
            <a:r>
              <a:rPr sz="14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  +  </a:t>
            </a:r>
            <a:r>
              <a:rPr sz="1550" b="0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运行时 </a:t>
            </a:r>
            <a:r>
              <a:rPr sz="1500" b="1" i="0">
                <a:solidFill>
                  <a:srgbClr val="0A5B66"/>
                </a:solidFill>
                <a:latin typeface="Consolas"/>
                <a:ea typeface="Consolas"/>
                <a:cs typeface="Consolas"/>
              </a:rPr>
              <a:t>patch</a:t>
            </a:r>
            <a:r>
              <a:rPr sz="14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  +  </a:t>
            </a:r>
            <a:r>
              <a:rPr sz="1500" b="0" i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NPU </a:t>
            </a:r>
            <a:r>
              <a:rPr sz="155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算子栈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331720"/>
            <a:ext cx="54864" cy="11155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45973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entry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770632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让它被发现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36391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启动扫描 → register() → NPUPlatform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93591"/>
            <a:ext cx="5669280" cy="1115568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 w="1016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593591"/>
            <a:ext cx="54864" cy="1115568"/>
          </a:xfrm>
          <a:prstGeom prst="rect">
            <a:avLst/>
          </a:prstGeom>
          <a:solidFill>
            <a:srgbClr val="0E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721607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C8A"/>
                </a:solidFill>
                <a:latin typeface="Consolas"/>
                <a:ea typeface="Consolas"/>
                <a:cs typeface="Consolas"/>
              </a:rPr>
              <a:t>MonkeyPatch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32504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让它改行为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98264"/>
            <a:ext cx="48920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import 时重绑 vLLM 内部实现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121408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6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SIX  LAYERS  →  ONE  ADAPTER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377440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03720" y="2468880"/>
            <a:ext cx="4087368" cy="2029968"/>
          </a:xfrm>
          <a:prstGeom prst="line">
            <a:avLst/>
          </a:prstGeom>
          <a:ln w="11430">
            <a:solidFill>
              <a:srgbClr val="D8C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65392" y="2706624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2798064"/>
            <a:ext cx="4087368" cy="1700784"/>
          </a:xfrm>
          <a:prstGeom prst="line">
            <a:avLst/>
          </a:prstGeom>
          <a:ln w="11430">
            <a:solidFill>
              <a:srgbClr val="D8C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65392" y="3035808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03720" y="3127248"/>
            <a:ext cx="4087368" cy="1371600"/>
          </a:xfrm>
          <a:prstGeom prst="line">
            <a:avLst/>
          </a:prstGeom>
          <a:ln w="11430">
            <a:solidFill>
              <a:srgbClr val="D8C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65392" y="3364991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03720" y="3456432"/>
            <a:ext cx="4087368" cy="1042416"/>
          </a:xfrm>
          <a:prstGeom prst="line">
            <a:avLst/>
          </a:prstGeom>
          <a:ln w="11430">
            <a:solidFill>
              <a:srgbClr val="D8C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65392" y="3694176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03720" y="3785615"/>
            <a:ext cx="4087368" cy="713233"/>
          </a:xfrm>
          <a:prstGeom prst="line">
            <a:avLst/>
          </a:prstGeom>
          <a:ln w="11430">
            <a:solidFill>
              <a:srgbClr val="D8C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65392" y="4023360"/>
            <a:ext cx="32918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03720" y="4114800"/>
            <a:ext cx="4087368" cy="384048"/>
          </a:xfrm>
          <a:prstGeom prst="line">
            <a:avLst/>
          </a:prstGeom>
          <a:ln w="11430">
            <a:solidFill>
              <a:srgbClr val="D8C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1082528" y="2834640"/>
            <a:ext cx="45720" cy="1920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228832" y="3182112"/>
            <a:ext cx="822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通用 vLLM</a:t>
            </a:r>
            <a:r>
              <a:rPr sz="80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
+
</a:t>
            </a:r>
            <a:r>
              <a:rPr sz="85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一层适配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7" y="173736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0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TROUBLESHOOTING  /  FOUR 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排障</a:t>
            </a:r>
            <a:r>
              <a:rPr lang="zh-CN" altLang="en-US" sz="2800" b="1" i="0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方法</a:t>
            </a:r>
            <a:r>
              <a:rPr sz="2800" b="1" i="0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800" b="1" i="0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如何利用</a:t>
            </a:r>
            <a:r>
              <a:rPr lang="en-US" altLang="zh-CN" sz="2800" b="1" i="0" dirty="0" err="1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vllm</a:t>
            </a:r>
            <a:r>
              <a:rPr lang="en-US" altLang="zh-CN" sz="2800" b="1" i="0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-ascend</a:t>
            </a:r>
            <a:r>
              <a:rPr lang="zh-CN" altLang="en-US" sz="2800" b="1" i="0" dirty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的结构阅读日志？</a:t>
            </a:r>
            <a:endParaRPr sz="2800" b="1" i="0" dirty="0">
              <a:solidFill>
                <a:srgbClr val="99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11183112" cy="164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32520" y="32918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621792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66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1481328"/>
            <a:ext cx="10972" cy="3794760"/>
          </a:xfrm>
          <a:prstGeom prst="rect">
            <a:avLst/>
          </a:prstGeom>
          <a:solidFill>
            <a:srgbClr val="E7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1298448"/>
            <a:ext cx="11183112" cy="877824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889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6656" y="150876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5024" y="1499616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Segoe UI Symbol"/>
                <a:ea typeface="Segoe UI Symbol"/>
                <a:cs typeface="Segoe UI Symbol"/>
              </a:rPr>
              <a:t>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1481328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banner + non-default args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1801368"/>
            <a:ext cx="6903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配置错误都在这两行现形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1581912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P7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159105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276856"/>
            <a:ext cx="11183112" cy="87782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889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6" y="248716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35024" y="2478024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Segoe UI Symbol"/>
                <a:ea typeface="Segoe UI Symbol"/>
                <a:cs typeface="Segoe UI Symbol"/>
              </a:rPr>
              <a:t>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2459736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引擎配置行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2779776"/>
            <a:ext cx="6903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逐字段核对并行 / 投机 / 量化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2560320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P8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4512" y="256946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55264"/>
            <a:ext cx="11183112" cy="877824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889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76656" y="3465576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35024" y="345643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Segoe UI Symbol"/>
                <a:ea typeface="Segoe UI Symbol"/>
                <a:cs typeface="Segoe UI Symbol"/>
              </a:rPr>
              <a:t>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438144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free memory 明细 + Available KV 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758184"/>
            <a:ext cx="6903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显存问题两行对账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78440" y="353872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P13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54512" y="354787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233672"/>
            <a:ext cx="11183112" cy="877824"/>
          </a:xfrm>
          <a:prstGeom prst="roundRect">
            <a:avLst>
              <a:gd name="adj" fmla="val 4000"/>
            </a:avLst>
          </a:prstGeom>
          <a:solidFill>
            <a:srgbClr val="FAFBFC"/>
          </a:solidFill>
          <a:ln w="889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6656" y="4443984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5024" y="4434840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C00000"/>
                </a:solidFill>
                <a:latin typeface="Segoe UI Symbol"/>
                <a:ea typeface="Segoe UI Symbol"/>
                <a:cs typeface="Segoe UI Symbol"/>
              </a:rPr>
              <a:t>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9968" y="4416552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F2328"/>
                </a:solidFill>
                <a:latin typeface="微软雅黑"/>
                <a:ea typeface="微软雅黑"/>
                <a:cs typeface="微软雅黑"/>
              </a:rPr>
              <a:t>(Worker_DPx_EPx) 前缀 + 开 DEBUG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9968" y="4736592"/>
            <a:ext cx="6903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定位到具体 rank 的算子问题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78440" y="451713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C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P9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54512" y="452628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1CB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7" y="5394960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按顺序查：配置 → 引擎 → 显存 → 具体 rank。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240">
                <a:solidFill>
                  <a:srgbClr val="C00000"/>
                </a:solidFill>
                <a:latin typeface="Consolas"/>
                <a:ea typeface="Consolas"/>
                <a:cs typeface="Consolas"/>
              </a:rPr>
              <a:t>THANK  YOU  FOR  WATCHING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7665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990000"/>
                </a:solidFill>
                <a:latin typeface="微软雅黑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300">
                <a:solidFill>
                  <a:srgbClr val="5A6472"/>
                </a:solidFill>
                <a:latin typeface="Arial"/>
                <a:ea typeface="Arial"/>
                <a:cs typeface="Arial"/>
              </a:rPr>
              <a:t>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401568"/>
            <a:ext cx="324612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附注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86784"/>
            <a:ext cx="7178040" cy="10607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 dirty="0" err="1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参考日志来自一次真实</a:t>
            </a:r>
            <a:r>
              <a:rPr sz="880" b="0" i="0" dirty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880" b="0" i="0" dirty="0" err="1">
                <a:solidFill>
                  <a:srgbClr val="5A6472"/>
                </a:solidFill>
                <a:latin typeface="Consolas"/>
                <a:ea typeface="Consolas"/>
                <a:cs typeface="Consolas"/>
              </a:rPr>
              <a:t>vllm</a:t>
            </a:r>
            <a:r>
              <a:rPr sz="880" b="0" i="0" dirty="0">
                <a:solidFill>
                  <a:srgbClr val="5A6472"/>
                </a:solidFill>
                <a:latin typeface="Consolas"/>
                <a:ea typeface="Consolas"/>
                <a:cs typeface="Consolas"/>
              </a:rPr>
              <a:t> serve</a:t>
            </a:r>
            <a:r>
              <a:rPr sz="880" b="0" i="0" dirty="0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880" b="0" i="0" dirty="0" err="1">
                <a:solidFill>
                  <a:srgbClr val="5A6472"/>
                </a:solidFill>
                <a:latin typeface="微软雅黑"/>
                <a:ea typeface="微软雅黑"/>
                <a:cs typeface="微软雅黑"/>
              </a:rPr>
              <a:t>运行</a:t>
            </a:r>
            <a:endParaRPr sz="880" b="0" i="0" dirty="0">
              <a:solidFill>
                <a:srgbClr val="5A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3232" y="5029200"/>
            <a:ext cx="96012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83664" y="5029200"/>
            <a:ext cx="960120" cy="45720"/>
          </a:xfrm>
          <a:prstGeom prst="rect">
            <a:avLst/>
          </a:prstGeom>
          <a:solidFill>
            <a:srgbClr val="D9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54096" y="5029200"/>
            <a:ext cx="96012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24528" y="5029200"/>
            <a:ext cx="960120" cy="45720"/>
          </a:xfrm>
          <a:prstGeom prst="rect">
            <a:avLst/>
          </a:prstGeom>
          <a:solidFill>
            <a:srgbClr val="D9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94960" y="5029200"/>
            <a:ext cx="96012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65392" y="5029200"/>
            <a:ext cx="960120" cy="45720"/>
          </a:xfrm>
          <a:prstGeom prst="rect">
            <a:avLst/>
          </a:prstGeom>
          <a:solidFill>
            <a:srgbClr val="D9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5166360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进  →  调度  →  广播  →  算  →  编译  →  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E9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10222992" y="5541264"/>
            <a:ext cx="1968703" cy="1316736"/>
          </a:xfrm>
          <a:custGeom>
            <a:avLst/>
            <a:gdLst/>
            <a:ahLst/>
            <a:cxnLst/>
            <a:rect l="l" t="t" r="r" b="b"/>
            <a:pathLst>
              <a:path w="1968703" h="1316736">
                <a:moveTo>
                  <a:pt x="713232" y="0"/>
                </a:moveTo>
                <a:lnTo>
                  <a:pt x="1968703" y="0"/>
                </a:lnTo>
                <a:lnTo>
                  <a:pt x="1968703" y="1316736"/>
                </a:lnTo>
                <a:lnTo>
                  <a:pt x="0" y="13167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ssets_huawe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5751576"/>
            <a:ext cx="841248" cy="8412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5840" y="621792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HUAWEI TECHNOLOGIES CO., LTD.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621792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Huawei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2001</Words>
  <Application>Microsoft Office PowerPoint</Application>
  <PresentationFormat>宽屏</PresentationFormat>
  <Paragraphs>500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微软雅黑</vt:lpstr>
      <vt:lpstr>Arial</vt:lpstr>
      <vt:lpstr>Calibri</vt:lpstr>
      <vt:lpstr>Consolas</vt:lpstr>
      <vt:lpstr>Segoe UI 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yueyifan</cp:lastModifiedBy>
  <cp:revision>5</cp:revision>
  <dcterms:created xsi:type="dcterms:W3CDTF">2013-01-27T09:14:16Z</dcterms:created>
  <dcterms:modified xsi:type="dcterms:W3CDTF">2026-10-19T10:43:51Z</dcterms:modified>
  <cp:category/>
</cp:coreProperties>
</file>