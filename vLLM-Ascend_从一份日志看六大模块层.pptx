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133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一次 serve = 293 秒、26 个进程、2800 行日志。这 5 分钟里机器到底干了什么？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全片走一条主线 —— 是什么 → 怎么接 → 什么结构 → 逐层看 → 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对比 fork 的成本 —— fork 要持续 rebase 上游；插件式只维护适配层，但上游改命名就得跟着修 patch。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日志里 patch_* 出现 ×24，就是因为这些 patch 在 import 时批量生效。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这是全场的“地图”，后面 P6–P14 每页点亮一层；记住“进→调度→广播→算→编译→回”这条线。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本页只讲“有哪些模块、各干什么”；日志实证放下一页。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banner 与 non-default args 也在这层 —— 排障时最先看这两行，配置错都在这里现形。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引擎配置行是排障最该逐字段核对的一行 —— 并行、投机、量化都在里面。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之后所有 Worker 日志都带前缀 (Worker_DPx_EPx pid=…)，排障靠它定位是哪个 rank。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forward 里主要两件事 —— Attention 读写 KV、MoE 按专家路由（EP=8）。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个 rank 各读一遍同一份 checkpoint，NFS 是启动期主要瓶颈；这也是“权重 53.31 GB”的来源。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编译只做一次；replay 是每次推理都在走的路。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hybrid 模型 4 个 KV group，每组 4480；133,120 = max_model_len，3.75× = 能并发几个满长度请求。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到这一步，一次请求闭环；KV block 在这里被还回去给下一个请求用。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回扣 P5 的地图，确认听众能把六层连成一条线。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 fork 是理解整个项目的钥匙 —— 结构上就是“通用 vLLM + 一层 Ascend 适配”。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这页是把前面知识变成“可操作动作”的地方。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谢谢观看，欢迎提问。附注说明了推理阶段日志的重建来源。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658368"/>
            <a:ext cx="502920" cy="2377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7498079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2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VLLM-ASCEND  ·  一次真实启动日志的走读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786384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当你 </a:t>
            </a:r>
            <a:r>
              <a:rPr sz="31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 serve</a:t>
            </a: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时，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83664"/>
            <a:ext cx="786384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究竟</a:t>
            </a:r>
            <a:r>
              <a:rPr sz="3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发生了什么？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61488"/>
            <a:ext cx="50749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290779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从一份真实日志，看 vLLM-Ascend 的</a:t>
            </a:r>
            <a:r>
              <a:rPr sz="16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六大模块层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777240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SIX 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2832" y="1225296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1499616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2832" y="1828800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103120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调度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243230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2832" y="2706624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广播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3035808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3310128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3639312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采样·编译·调优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42832" y="3913632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编译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42832" y="4242816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4517136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Freeform 34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CONTENTS  /  05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16152" y="1389888"/>
            <a:ext cx="10972" cy="3913632"/>
          </a:xfrm>
          <a:prstGeom prst="rect">
            <a:avLst/>
          </a:prstGeom>
          <a:solidFill>
            <a:srgbClr val="E7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298448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1563624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44752" y="1325880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什么是 vLLM-Ascend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1682495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一份 MonkeyPatch + 一个插件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03120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170432" y="2368296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44752" y="2130552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它怎么接入 vLLM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2487168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entry points 与 MonkeyPatch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907792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Oval 20"/>
          <p:cNvSpPr/>
          <p:nvPr/>
        </p:nvSpPr>
        <p:spPr>
          <a:xfrm>
            <a:off x="1170432" y="3172968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44752" y="2935224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认识它的结构（六大层）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3291840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进 → 调度 → 广播 → 算 → 编译 → 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12464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5" name="Oval 24"/>
          <p:cNvSpPr/>
          <p:nvPr/>
        </p:nvSpPr>
        <p:spPr>
          <a:xfrm>
            <a:off x="1170432" y="3977640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44752" y="3739896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逐层从日志看模块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096512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P6–P14：每页点亮一层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17136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Oval 28"/>
          <p:cNvSpPr/>
          <p:nvPr/>
        </p:nvSpPr>
        <p:spPr>
          <a:xfrm>
            <a:off x="1170432" y="4782312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44752" y="4544568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总结与排障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901184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把认知变成可操作动作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325880"/>
            <a:ext cx="3822191" cy="3977639"/>
          </a:xfrm>
          <a:prstGeom prst="roundRect">
            <a:avLst>
              <a:gd name="adj" fmla="val 4000"/>
            </a:avLst>
          </a:prstGeom>
          <a:solidFill>
            <a:srgbClr val="0B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01000" y="162763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2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ONE THREAD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1920240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全片一条主线</a:t>
            </a:r>
            <a:endParaRPr sz="1600" b="1" i="0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8028431" y="2487168"/>
            <a:ext cx="146304" cy="146304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095183" y="2633472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66760" y="2414016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是什么</a:t>
            </a:r>
            <a:endParaRPr sz="1200" b="0" i="0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012680" y="2414016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39" name="Oval 38"/>
          <p:cNvSpPr/>
          <p:nvPr/>
        </p:nvSpPr>
        <p:spPr>
          <a:xfrm>
            <a:off x="8028431" y="3017520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95183" y="3163824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66760" y="2944368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怎么接</a:t>
            </a:r>
            <a:endParaRPr sz="1200" b="0" i="0" dirty="0">
              <a:solidFill>
                <a:srgbClr val="C9D4E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012680" y="2944368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3" name="Oval 42"/>
          <p:cNvSpPr/>
          <p:nvPr/>
        </p:nvSpPr>
        <p:spPr>
          <a:xfrm>
            <a:off x="8028431" y="3547872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95183" y="3694176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3474720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什么结构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474720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7" name="Oval 46"/>
          <p:cNvSpPr/>
          <p:nvPr/>
        </p:nvSpPr>
        <p:spPr>
          <a:xfrm>
            <a:off x="8028431" y="4078224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095183" y="4224528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66760" y="4005072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逐层看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2680" y="4005072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51" name="Oval 50"/>
          <p:cNvSpPr/>
          <p:nvPr/>
        </p:nvSpPr>
        <p:spPr>
          <a:xfrm>
            <a:off x="8028431" y="4608576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66760" y="4535424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收束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4828032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FA0BA"/>
                </a:solidFill>
                <a:latin typeface="Consolas"/>
                <a:ea typeface="Consolas"/>
                <a:cs typeface="Consolas"/>
              </a:rPr>
              <a:t>是什么 → 怎么接 → 什么结构 → 逐层看 → 收束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什么是 vLLM-Ascend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01  /  WHAT IT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243584"/>
            <a:ext cx="11183112" cy="932688"/>
          </a:xfrm>
          <a:prstGeom prst="roundRect">
            <a:avLst>
              <a:gd name="adj" fmla="val 4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243584"/>
            <a:ext cx="64008" cy="9326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1316736"/>
            <a:ext cx="10652760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它是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的一份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i="0" dirty="0" err="1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MonkeyPatch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一个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i="0" dirty="0" err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插件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—— </a:t>
            </a:r>
            <a:r>
              <a:rPr sz="1700" b="1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不 fork </a:t>
            </a:r>
            <a:r>
              <a:rPr sz="1700" b="1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，而是</a:t>
            </a:r>
            <a:r>
              <a:rPr lang="zh-CN" altLang="en-US"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挂载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在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上。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2505456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468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挂载</a:t>
            </a:r>
            <a:endParaRPr sz="14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029968" y="2496312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作为插件挂在 vLLM 上，vLLM 主仓一行不改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" y="3291840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32552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改写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3282696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时把内部实现换成本地 NPU 实现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078224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4041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取舍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9968" y="4069080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升级跟着上游走，代价是与 vLLM 内部命名强耦合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231136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WHY  IT  WORKS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2523744"/>
            <a:ext cx="4462272" cy="2670048"/>
          </a:xfrm>
          <a:prstGeom prst="roundRect">
            <a:avLst>
              <a:gd name="adj" fmla="val 6000"/>
            </a:avLst>
          </a:prstGeom>
          <a:solidFill>
            <a:srgbClr val="E8F5F6"/>
          </a:solidFill>
          <a:ln w="16510">
            <a:solidFill>
              <a:srgbClr val="0E7C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882127" y="3163824"/>
            <a:ext cx="3401568" cy="1078992"/>
          </a:xfrm>
          <a:prstGeom prst="roundRect">
            <a:avLst>
              <a:gd name="adj" fmla="val 5000"/>
            </a:avLst>
          </a:prstGeom>
          <a:solidFill>
            <a:srgbClr val="E2E5EA"/>
          </a:solidFill>
          <a:ln w="12700">
            <a:solidFill>
              <a:srgbClr val="B9C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01000" y="3291840"/>
            <a:ext cx="316382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A434F"/>
                </a:solidFill>
                <a:latin typeface="Consolas"/>
                <a:ea typeface="Consolas"/>
                <a:cs typeface="Consolas"/>
              </a:rPr>
              <a:t>vLLM  0.30.0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12463"/>
            <a:ext cx="316382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微软雅黑"/>
                <a:ea typeface="微软雅黑"/>
                <a:cs typeface="微软雅黑"/>
              </a:rPr>
              <a:t>主仓一行不改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5176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vllm-ascend  ·  插件 + patch 外壳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773168"/>
            <a:ext cx="4160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Ascend 适配全部收在这一层里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它怎么接入 vLLM：两个机制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02  /  HOW IT PLUGS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225296"/>
            <a:ext cx="5440680" cy="1755648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2920" y="1225296"/>
            <a:ext cx="544068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128016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机制一 · </a:t>
            </a: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被发现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29844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4DADA"/>
                </a:solidFill>
                <a:latin typeface="Consolas"/>
                <a:ea typeface="Consolas"/>
                <a:cs typeface="Consolas"/>
              </a:rPr>
              <a:t>entry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76479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175564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setup.py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登记 vllm.platform_plugins: ascend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340864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233172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register()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vLLM 启动扫 site-packages → 拿回 NPUPlatform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225296"/>
            <a:ext cx="5440680" cy="1755648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5352" y="1225296"/>
            <a:ext cx="5440680" cy="402336"/>
          </a:xfrm>
          <a:prstGeom prst="roundRect">
            <a:avLst>
              <a:gd name="adj" fmla="val 10000"/>
            </a:avLst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9944" y="128016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机制二 · </a:t>
            </a: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2952" y="129844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6EEF1"/>
                </a:solidFill>
                <a:latin typeface="Consolas"/>
                <a:ea typeface="Consolas"/>
                <a:cs typeface="Consolas"/>
              </a:rPr>
              <a:t>MonkeyPatch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176479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38544" y="175564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patch/*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以 import 副作用生效；约 48 个文件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340864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8544" y="233172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重绑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vLLM 内部属性 / 方法换成 Ascend 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200400"/>
            <a:ext cx="3547872" cy="512064"/>
          </a:xfrm>
          <a:prstGeom prst="roundRect">
            <a:avLst>
              <a:gd name="adj" fmla="val 10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3255264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vLLM</a:t>
            </a:r>
            <a:r>
              <a:rPr sz="10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  主仓 · 一行不改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63240" y="2980944"/>
            <a:ext cx="1783080" cy="219456"/>
          </a:xfrm>
          <a:prstGeom prst="line">
            <a:avLst/>
          </a:prstGeom>
          <a:ln w="1778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333488" y="2980944"/>
            <a:ext cx="1792224" cy="219456"/>
          </a:xfrm>
          <a:prstGeom prst="line">
            <a:avLst/>
          </a:prstGeom>
          <a:ln w="17780">
            <a:solidFill>
              <a:srgbClr val="0E7C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1207" y="393192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BOOT  LOG  /  两行证据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169663"/>
            <a:ext cx="11183112" cy="1170432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02920" y="4169663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4352544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49224" y="4265676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04672" y="4265676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60120" y="4265676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88720" y="4219955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vllm serve  ·  plugin discovery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" y="4553712"/>
            <a:ext cx="1089050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 dirty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 dirty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__init__.py:54                 </a:t>
            </a:r>
            <a:r>
              <a:rPr sz="90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Available plugins for group </a:t>
            </a:r>
            <a:r>
              <a:rPr sz="900" b="0" i="0" dirty="0" err="1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vllm.platform_plugins</a:t>
            </a:r>
            <a:r>
              <a:rPr sz="90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: - ascend -&gt; </a:t>
            </a:r>
            <a:r>
              <a:rPr sz="900" b="0" i="0" dirty="0" err="1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vllm_ascend:register</a:t>
            </a:r>
            <a:endParaRPr sz="900" b="0" i="0" dirty="0">
              <a:solidFill>
                <a:srgbClr val="D7E2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49224" y="4864607"/>
            <a:ext cx="1089050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__init__.py:272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Platform plugin ascend is activated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结构总览：六大层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03  /  THE SIX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170432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请求从第 1 层进、第 6 层出，中间四层各司其职。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48132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48132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86384" y="160934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5819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61848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请求入口 + Ascend 接入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60" y="160934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04825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12140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212140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86384" y="224942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222199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 EngineCore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25856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 DP rank 的大脑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224942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调度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26883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76148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2761488"/>
            <a:ext cx="91440" cy="5852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86384" y="288950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286207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289864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把指令广播到 Worker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60" y="288950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05621"/>
                </a:solidFill>
                <a:latin typeface="微软雅黑"/>
                <a:ea typeface="微软雅黑"/>
                <a:cs typeface="微软雅黑"/>
              </a:rPr>
              <a:t>广播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32841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40156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ED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3401568"/>
            <a:ext cx="91440" cy="58521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86384" y="352958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350215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353872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真正做计算的地方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24160" y="352958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396849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04164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041648"/>
            <a:ext cx="91440" cy="5852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86384" y="416966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61872" y="414223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 · 编译 · 调优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9160" y="417880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编译成图并调优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169664"/>
            <a:ext cx="141732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05621"/>
                </a:solidFill>
                <a:latin typeface="微软雅黑"/>
                <a:ea typeface="微软雅黑"/>
                <a:cs typeface="微软雅黑"/>
              </a:rPr>
              <a:t>编译 / 规划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60857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68172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2920" y="468172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786384" y="480974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61872" y="47823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481888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token 送回请求方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24160" y="480974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回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01  /  PLATFORM &amp;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1 · 平台与前端：请求入口与 Ascend 接入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01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15568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请求从这里进，Ascend 从这里被接入。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81328"/>
            <a:ext cx="2057400" cy="21396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81328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" y="160934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1865376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CLI /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2267712"/>
            <a:ext cx="1783080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几十个参数
→ 一份 VllmConfig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4323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9776" y="1481328"/>
            <a:ext cx="2057400" cy="21396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79776" y="1481328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26080" y="160934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1865376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插件系统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267712"/>
            <a:ext cx="1783080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发现 ascend
插件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7176" y="24323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56632" y="1481328"/>
            <a:ext cx="2057400" cy="21396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56632" y="1481328"/>
            <a:ext cx="2057400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02936" y="160934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1865376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2267712"/>
            <a:ext cx="1783080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设备 / dtype / 后端 /
量化的总接口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24323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33488" y="1481328"/>
            <a:ext cx="2057400" cy="21396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333488" y="1481328"/>
            <a:ext cx="2057400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79792" y="160934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1865376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patch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2267712"/>
            <a:ext cx="1783080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
改写 vLLM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90888" y="24323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10344" y="1481328"/>
            <a:ext cx="2057400" cy="21396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610344" y="1481328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756648" y="160934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56648" y="1865376"/>
            <a:ext cx="17830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API Server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56648" y="2267712"/>
            <a:ext cx="1783080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对外提供
HTTP 入口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7" y="3858768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产 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4297680"/>
            <a:ext cx="4892040" cy="786384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 w="12700">
            <a:solidFill>
              <a:srgbClr val="E7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1520" y="438912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一份 </a:t>
            </a:r>
            <a:r>
              <a:rPr sz="15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VllmConfig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700016"/>
            <a:ext cx="4480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后续每个模块都从这里读取自己那一份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577840" y="4581144"/>
            <a:ext cx="566928" cy="219456"/>
          </a:xfrm>
          <a:prstGeom prst="right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327648" y="4297680"/>
            <a:ext cx="5358384" cy="786384"/>
          </a:xfrm>
          <a:prstGeom prst="roundRect">
            <a:avLst>
              <a:gd name="adj" fmla="val 5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537960" y="43891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API Server</a:t>
            </a:r>
            <a:r>
              <a:rPr sz="130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   :8017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4700016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对外提供 HTTP，8 个 API server 进程各持一份路由表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01  / 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1 · 日志实证：发现 → 激活 → 改写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01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325880"/>
            <a:ext cx="7452360" cy="2788920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325880"/>
            <a:ext cx="7452360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7452360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9224" y="1421892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04672" y="1421892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0120" y="1421892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8720" y="1376172"/>
            <a:ext cx="6629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vllm serve  ·  boot log  (16:35:31 → 16:35:39)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1709928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__init__.py:54             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Available plugins ... - ascend -&gt; vllm_ascend:register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2423160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__init__.py:272            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Platform plugin ascend is activated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3136392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patch_kv_cache_dtype.py:115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Patched CacheConfig.cache_dtype to accept 'int8'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1664208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75320" y="1664208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1728216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1719072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发现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1719072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扫描 site-packages，
找到 ascend 插件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8028431" y="1755648"/>
            <a:ext cx="246889" cy="210312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75320" y="2359152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2359152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0" y="2423160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2414016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激活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0304" y="2414016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NPUPlatform 接管
设备与后端选择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8028431" y="2415844"/>
            <a:ext cx="246889" cy="245060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75320" y="3054096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75320" y="3054096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12480" y="3118103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108960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改写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0304" y="3108960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时重绑
CacheConfig 校验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8028431" y="3076041"/>
            <a:ext cx="246889" cy="279807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02920" y="4407408"/>
            <a:ext cx="7452360" cy="731520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407408"/>
            <a:ext cx="54864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9808" y="4462272"/>
            <a:ext cx="704088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三条日志，正好对应 </a:t>
            </a: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发现 → 激活 → 改写</a:t>
            </a: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三步。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462272"/>
            <a:ext cx="338328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banner 与 non-default args
也在这一层 —— 配置错最先在这里现形。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02  /  ENGINE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2 · 引擎层 EngineCore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02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33856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 DP rank 的“大脑”，跑主循环：调度 → 执行 → 输出。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17904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17904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163677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EngineCore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1655063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V1 引擎主循环：run_busy_loop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414015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414015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2532887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Scheduler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24912" y="2551175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准入 + token 预算 + KV block 分配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10127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310127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42899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KV Cache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24912" y="3447287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管理每 rank 的 KV block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1325880"/>
            <a:ext cx="5330952" cy="269748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60" y="1426464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EngineCore  ·  run_busy_loop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schedule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execute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output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028431" y="2057400"/>
            <a:ext cx="164592" cy="164592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>
            <a:off x="9628632" y="2057400"/>
            <a:ext cx="164592" cy="164592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10515600" y="2414016"/>
            <a:ext cx="0" cy="310896"/>
          </a:xfrm>
          <a:prstGeom prst="line">
            <a:avLst/>
          </a:prstGeom>
          <a:ln w="12700">
            <a:solidFill>
              <a:srgbClr val="C9C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315200" y="2724912"/>
            <a:ext cx="3200400" cy="0"/>
          </a:xfrm>
          <a:prstGeom prst="line">
            <a:avLst/>
          </a:prstGeom>
          <a:ln w="12700">
            <a:solidFill>
              <a:srgbClr val="C9C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315200" y="2432304"/>
            <a:ext cx="0" cy="292608"/>
          </a:xfrm>
          <a:prstGeom prst="line">
            <a:avLst/>
          </a:prstGeom>
          <a:ln w="1270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32520" y="277977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下一步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310896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init engine</a:t>
            </a: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（profile · KV · warmup）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3017520"/>
            <a:ext cx="1874519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20.12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3419856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单 rank 初始化耗时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187952"/>
            <a:ext cx="11183112" cy="1152144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02920" y="4187952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370832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49224" y="4283964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04672" y="4283964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60120" y="4283964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88720" y="4238244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EngineCore  ·  init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" y="4572000"/>
            <a:ext cx="108905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core.py:123    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Initializing a V1 LLM engine (v0.30.0) with config: … data_parallel_size=8 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" y="4901184"/>
            <a:ext cx="108905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core.py:379    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init engine (profile, create kv cache, warmup) took 20.12 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03  / 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3 · 执行层：把指令广播到干活的进程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03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进程编排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627631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主进程拉起并监控所有子进程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21408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2212848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871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SchedulerOutput 广播给各 Worker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80944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3072384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NPUWorker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3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本进程内的设备与模型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85032" y="1261872"/>
            <a:ext cx="8001000" cy="256032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989320" y="1371600"/>
            <a:ext cx="3520440" cy="365760"/>
          </a:xfrm>
          <a:prstGeom prst="roundRect">
            <a:avLst>
              <a:gd name="adj" fmla="val 10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vllm serve</a:t>
            </a:r>
            <a:r>
              <a:rPr sz="9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  主进程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22191" y="201168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API Server  ×8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2191" y="2468880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FastAPI + 引擎客户端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011680"/>
            <a:ext cx="201168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DP 协调器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46888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汇总各 rank 负载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41080" y="201168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EngineCore  ×8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468880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每个 DP rank 一个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800600" y="1737360"/>
            <a:ext cx="2944368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360920" y="1737360"/>
            <a:ext cx="384048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744968" y="1737360"/>
            <a:ext cx="1874520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283464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E8F5F6"/>
          </a:solidFill>
          <a:ln w="1397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NPUWorker  ×8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19488" y="2615184"/>
            <a:ext cx="0" cy="219456"/>
          </a:xfrm>
          <a:prstGeom prst="line">
            <a:avLst/>
          </a:prstGeom>
          <a:ln w="13970">
            <a:solidFill>
              <a:srgbClr val="0E7C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641080" y="3310128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Worker_DPx_EPx pid=…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2191" y="3072384"/>
            <a:ext cx="448056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per-rank 代码在每个进程各跑一遍；
patch 与配置校验在每个进程 import 时各跑一次。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950208"/>
            <a:ext cx="11183112" cy="56692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023360"/>
            <a:ext cx="9601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44752" y="4059936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进程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10512" y="4069080"/>
            <a:ext cx="2286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76272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0591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46704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21024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API Server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DP 协调器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9904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64224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EngineCore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0336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4656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NPUWorker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663439"/>
            <a:ext cx="11183112" cy="841247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02920" y="4663440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2920" y="4846320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49224" y="4759452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04672" y="4759452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60120" y="4759452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88720" y="4713731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process topology  ·  samples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" y="5047488"/>
            <a:ext cx="1089050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utils.py:253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Started 8 API server processes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" y="5266944"/>
            <a:ext cx="1089050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 dirty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 dirty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parallel_state.py:2267         </a:t>
            </a:r>
            <a:r>
              <a:rPr sz="88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rank 2 … is assigned as DP rank 2, PP rank 0, TP rank 0, EP rank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04  /  COMPUTE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4 · 计算层：模块与运行时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04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15568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真正做计算的地方；运行时组输入 → forward → 采样。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63040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63040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155448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ModelRunner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1572768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组输入、跑 forward、触发采样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322576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322576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241401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并行状态 / 通信器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2432304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DP / EP / TP 的通信底座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82112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182112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27355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模型注册 / 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7248" y="3291840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GLM 等模型在 Ascend 上的实现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41648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4041648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4133087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投机推理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7248" y="4151376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MTP 草稿模型管理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1261872"/>
            <a:ext cx="4325112" cy="347472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43800" y="1371600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SINGLE  WORKER  /  INSIDE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1664208"/>
            <a:ext cx="25146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_prepare_inputs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input_ids · positions · block table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28048" y="2103120"/>
            <a:ext cx="0" cy="201168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955279" y="2304288"/>
            <a:ext cx="3154680" cy="1280160"/>
          </a:xfrm>
          <a:prstGeom prst="roundRect">
            <a:avLst>
              <a:gd name="adj" fmla="val 8000"/>
            </a:avLst>
          </a:prstGeom>
          <a:solidFill>
            <a:srgbClr val="E8F5F6"/>
          </a:solidFill>
          <a:ln w="1397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92440" y="2377440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forward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01583" y="2651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Attention 读写 KV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46336" y="2651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MoE 路由  EP=8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072384"/>
            <a:ext cx="2971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ACL 图回放  ·  decode-FULL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3291840"/>
            <a:ext cx="2971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逐层计算：写回 KV + 专家并行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528048" y="3584448"/>
            <a:ext cx="0" cy="219456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275320" y="3803904"/>
            <a:ext cx="25146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sample_tokens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最终 token / logits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4370832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输入 → forward（Attention / MoE 两支）→ 输出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04  /  ASSETS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4 · 装资产：权重、量化、专家与投机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04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243584"/>
            <a:ext cx="3639312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53.31 GB</a:t>
            </a:r>
            <a:r>
              <a:rPr sz="1000" b="0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 / 50.41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8 个 Worker 各读一遍 NFS checkpoint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0248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0248" y="1243584"/>
            <a:ext cx="3639312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34840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W8A8 + MXFP8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modelslim · Ascend 量化方案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37575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37575" y="1243584"/>
            <a:ext cx="3639312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02167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专家 + 投机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7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36 / 288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本地 / 全局专家；MTP draft 与主模型共享 embedding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294436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PARALLEL  LOAD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218688"/>
            <a:ext cx="1993392" cy="1005840"/>
          </a:xfrm>
          <a:prstGeom prst="roundRect">
            <a:avLst>
              <a:gd name="adj" fmla="val 5000"/>
            </a:avLst>
          </a:prstGeom>
          <a:solidFill>
            <a:srgbClr val="E8F5F6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3310128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NFS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547872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314 GiB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58768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checkpoint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578608" y="3584448"/>
            <a:ext cx="713232" cy="274320"/>
          </a:xfrm>
          <a:prstGeom prst="rightArrow">
            <a:avLst/>
          </a:prstGeom>
          <a:solidFill>
            <a:srgbClr val="A9C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438144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38144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53128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53128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68112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68112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83096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83096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98079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13064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13064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28048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528048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43032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543032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38144" y="4261104"/>
            <a:ext cx="81381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8 个 NPUWorker 各读一份同一 checkpoint，NFS 是启动期主要瓶颈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517136"/>
            <a:ext cx="11183112" cy="859536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02920" y="4517136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2920" y="4700016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49224" y="4613148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04672" y="4613148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60120" y="4613148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88720" y="4567428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weight loading  ·  8 ranks in parallel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" y="4901184"/>
            <a:ext cx="1089050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model_runner_v1.py:4449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Loading model weights took 53.3064 GB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" y="5157216"/>
            <a:ext cx="1089050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expert_map_manager.py:245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[EP Rank 2/8] Local/global number of experts: 36/288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05  /  COMPILE &amp; KERNELS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5 · 编译与算子：把模型变成可回放的图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05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98448"/>
            <a:ext cx="5230368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76656" y="1463039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1444751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编译 / 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1773936"/>
            <a:ext cx="43434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融合 pass + ACL 图捕获 / 回放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2322576"/>
            <a:ext cx="4343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compilation/  ·  acl_graph.py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743200"/>
            <a:ext cx="5230368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76656" y="2907792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889504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算子 / 内核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218688"/>
            <a:ext cx="43434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ops/ Python 覆盖 · ops/triton/ 内核 · csrc/ 自定义算子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3767328"/>
            <a:ext cx="4343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ops/  ·  ops/triton/  ·  csrc/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1298448"/>
            <a:ext cx="5696712" cy="2907792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99632" y="1408176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ONE  CAPTURE  →  EVERY 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1353312"/>
            <a:ext cx="14173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7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1682496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0.25 GiB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1847088"/>
            <a:ext cx="5120640" cy="566928"/>
          </a:xfrm>
          <a:prstGeom prst="roundRect">
            <a:avLst>
              <a:gd name="adj" fmla="val 7000"/>
            </a:avLst>
          </a:prstGeom>
          <a:solidFill>
            <a:srgbClr val="FCF5F5"/>
          </a:solidFill>
          <a:ln w="12700">
            <a:solidFill>
              <a:srgbClr val="E7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29384"/>
            <a:ext cx="283464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图捕获</a:t>
            </a: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 （一次性）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23960" y="2414016"/>
            <a:ext cx="0" cy="310896"/>
          </a:xfrm>
          <a:prstGeom prst="line">
            <a:avLst/>
          </a:prstGeom>
          <a:ln w="1524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961120" y="245059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capture once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2724912"/>
            <a:ext cx="5120640" cy="676656"/>
          </a:xfrm>
          <a:prstGeom prst="roundRect">
            <a:avLst>
              <a:gd name="adj" fmla="val 7000"/>
            </a:avLst>
          </a:prstGeom>
          <a:solidFill>
            <a:srgbClr val="E8F5F6"/>
          </a:solidFill>
          <a:ln w="1524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19088" y="2807208"/>
            <a:ext cx="292608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replay</a:t>
            </a: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 （每次推理）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2852928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ACL graph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529584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推理时直接回放已捕获的图，省掉逐算子调度开销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794760"/>
            <a:ext cx="51206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Enabled custom fusions: norm_quant, act_quant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370832"/>
            <a:ext cx="11183112" cy="1005840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2920" y="4370832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2920" y="4553712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9224" y="4466844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04672" y="4466844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60120" y="4466844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4421124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graph capture  ·  first boot only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" y="4754880"/>
            <a:ext cx="1089050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gpu_model_runner.py:6929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Graph capturing finished in 7 secs, took 0.25 GiB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" y="5029200"/>
            <a:ext cx="1089050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entry.py:139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ACL graph replay is active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05  /  KV CACHE &amp; 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5 · KV 显存与就绪：20.03 GiB 能装多少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05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20.03 GiB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单 rank 可用 KV 显存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58768" y="1755648"/>
            <a:ext cx="329184" cy="219456"/>
          </a:xfrm>
          <a:prstGeom prst="rightArrow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251959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499,200 tokens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KV cache 容量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607808" y="1755648"/>
            <a:ext cx="329184" cy="219456"/>
          </a:xfrm>
          <a:prstGeom prst="rightArrow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001000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FFD9D9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3.75×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FFE3E3"/>
                </a:solidFill>
                <a:latin typeface="微软雅黑"/>
                <a:ea typeface="微软雅黑"/>
                <a:cs typeface="微软雅黑"/>
              </a:rPr>
              <a:t>133k 满长度请求并发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2578608"/>
            <a:ext cx="10789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推导链：剩余显存 → 能放多少 token → 能并发几个满长度请求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287121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就 绪 收 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145536"/>
            <a:ext cx="5413248" cy="74980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2920" y="3145536"/>
            <a:ext cx="45720" cy="749808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227832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NUMA 绑核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50215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Worker 绑到对应 NUMA 节点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3145536"/>
            <a:ext cx="5413248" cy="74980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035040" y="3145536"/>
            <a:ext cx="45720" cy="749808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17920" y="3227832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FastAPI 路由挂载 ×8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50215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8 个 API server 各注册完整路由表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078224"/>
            <a:ext cx="11183112" cy="1298448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2920" y="4078224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2920" y="4261104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9224" y="4174236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04672" y="4174236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60120" y="4174236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4128515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kv planning  →  server ready  (16:40:24)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" y="4462272"/>
            <a:ext cx="10890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kv_cache_utils.py:2395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NPU KV cache size: 499,200 tokens, … for 133,120 tokens per request: 3.75x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" y="4846320"/>
            <a:ext cx="10890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entry.py:139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Starting vLLM server on http://0.0.0.0:8017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06  / 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6 · 输出层：把 token 送回请求方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06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Scheduler 记账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更新请求状态、释放 / 复用 KV block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53127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增量 detokenize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token → 文本（RequestState 累积）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1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38743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3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返回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3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构造 RequestOutput → HTTP 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7" y="278892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RESPONSE  PATH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090672"/>
            <a:ext cx="141732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token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76272" y="3090672"/>
            <a:ext cx="1874519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detokenize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090672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RequestOutput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3090672"/>
            <a:ext cx="2011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HTTP 响应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920240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ight Arrow 29"/>
          <p:cNvSpPr/>
          <p:nvPr/>
        </p:nvSpPr>
        <p:spPr>
          <a:xfrm>
            <a:off x="4050791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>
            <a:off x="6419088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96528" y="3182112"/>
            <a:ext cx="28346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每个增量都走这条路</a:t>
            </a: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（流式）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968496"/>
            <a:ext cx="11183112" cy="1408176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02920" y="3968496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2920" y="4151376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9224" y="4064508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04672" y="4064508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960120" y="4064508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8720" y="4018787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request complete  ·  one response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4352544"/>
            <a:ext cx="10890504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request_logger.py:98           </a:t>
            </a:r>
            <a:r>
              <a:rPr sz="8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Generated response chatcmpl-…: output: '…', finish_reason: stop, usage: {prompt_tokens: 11, completion_tokens: 312, total_tokens: 323}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539496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KV block 在这里被还回去，给下一个请求用。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PUTTING  IT  ALL 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一次请求的完整路径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7043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把六层串起来 —— 前端进 → 引擎调度 → 执行广播 → 计算 → 采样 / 编译 → 输出。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请求入口 + Ascend 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59736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459736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587752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87752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7752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调度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7752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决定本步跑什么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6552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16552" y="1554480"/>
            <a:ext cx="1755648" cy="457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广播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SchedulerOutput → Worker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73368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ED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73368" y="1554480"/>
            <a:ext cx="1755648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1384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1384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1384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Attention / MoE / ACL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30184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330184" y="1554480"/>
            <a:ext cx="1755648" cy="457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58200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采样·编译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编译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KV 规划 · 图 · 采样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85832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287000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287000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415016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15016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15016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回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15016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detokenize → HTTP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7914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BE9E9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POST /v1/chat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287000" y="4791456"/>
            <a:ext cx="1389888" cy="310896"/>
          </a:xfrm>
          <a:prstGeom prst="roundRect">
            <a:avLst>
              <a:gd name="adj" fmla="val 50000"/>
            </a:avLst>
          </a:prstGeom>
          <a:solidFill>
            <a:srgbClr val="E8F5F6"/>
          </a:solidFill>
          <a:ln w="1143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200 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212080"/>
            <a:ext cx="111556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同一副骨架，加载时被搭起来，推理时被跑一遍。</a:t>
            </a:r>
          </a:p>
        </p:txBody>
      </p:sp>
      <p:sp>
        <p:nvSpPr>
          <p:cNvPr id="57" name="箭头: 右 56">
            <a:extLst>
              <a:ext uri="{FF2B5EF4-FFF2-40B4-BE49-F238E27FC236}">
                <a16:creationId xmlns:a16="http://schemas.microsoft.com/office/drawing/2014/main" id="{8FDC601D-D928-45A1-470A-E33A6F3F8A21}"/>
              </a:ext>
            </a:extLst>
          </p:cNvPr>
          <p:cNvSpPr/>
          <p:nvPr/>
        </p:nvSpPr>
        <p:spPr>
          <a:xfrm>
            <a:off x="2069561" y="4911365"/>
            <a:ext cx="8074152" cy="7211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总结</a:t>
            </a:r>
            <a:endParaRPr sz="28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WRAP 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88720"/>
            <a:ext cx="11155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990000"/>
                </a:solidFill>
                <a:latin typeface="Consolas"/>
                <a:ea typeface="Consolas"/>
                <a:cs typeface="Consolas"/>
              </a:rPr>
              <a:t>vLLM-Ascend</a:t>
            </a:r>
            <a:r>
              <a:rPr sz="15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= 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插件接入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平台实现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50" b="0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运行时 </a:t>
            </a:r>
            <a:r>
              <a:rPr sz="15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patch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00" b="0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NPU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算子栈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331720"/>
            <a:ext cx="54864" cy="11155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2459736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entry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770632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让它被发现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36391"/>
            <a:ext cx="48920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启动扫描 → register() → NPUPlatform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93591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593591"/>
            <a:ext cx="54864" cy="1115568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721607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MonkeyPatch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3250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让它改行为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98264"/>
            <a:ext cx="48920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时重绑 vLLM 内部实现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121408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SIX  LAYERS  →  ONE  ADAPTER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2377440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903720" y="2468880"/>
            <a:ext cx="4087368" cy="2029968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65392" y="2706624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2798064"/>
            <a:ext cx="4087368" cy="1700784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65392" y="3035808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03720" y="3127248"/>
            <a:ext cx="4087368" cy="1371600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65392" y="3364991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03720" y="3456432"/>
            <a:ext cx="4087368" cy="1042416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65392" y="3694176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03720" y="3785615"/>
            <a:ext cx="4087368" cy="713233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65392" y="4023360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03720" y="4114800"/>
            <a:ext cx="4087368" cy="384048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082528" y="2834640"/>
            <a:ext cx="45720" cy="1920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228832" y="3182112"/>
            <a:ext cx="82296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通用 vLLM</a:t>
            </a:r>
            <a:r>
              <a:rPr sz="80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
+
</a:t>
            </a:r>
            <a:r>
              <a:rPr sz="8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一层适配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TROUBLESHOOTING  /  FOUR 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排障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方法</a:t>
            </a:r>
            <a:r>
              <a:rPr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如何利用</a:t>
            </a:r>
            <a:r>
              <a:rPr lang="en-US" altLang="zh-CN"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lang="en-US" altLang="zh-CN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-Ascend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的结构阅读日志？</a:t>
            </a:r>
            <a:endParaRPr sz="28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1481328"/>
            <a:ext cx="10972" cy="3794760"/>
          </a:xfrm>
          <a:prstGeom prst="rect">
            <a:avLst/>
          </a:prstGeom>
          <a:solidFill>
            <a:srgbClr val="E7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298448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6656" y="150876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35024" y="1499616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1481328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banner + non-default args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8" y="1801368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配置错误都在这两行现形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78440" y="158191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4512" y="1591056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276856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76656" y="2487168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5024" y="2478024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2459736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引擎配置行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2779776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逐字段核对并行 / 投机 / 量化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78440" y="25603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2569464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55264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76656" y="346557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35024" y="3456432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29968" y="3438144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free memory 明细 + Available KV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3758184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显存问题两行对账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78440" y="35387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4512" y="354787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233672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76656" y="4443984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5024" y="4434840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9968" y="4416552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(Worker_DPx_EPx) 前缀 + 开 DEBUG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9968" y="4736592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定位到具体 rank 的算子问题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78440" y="451713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54512" y="452628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5394960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按顺序查：配置 → 引擎 → 显存 → 具体 rank。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4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THANK  YOU  FOR 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67665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67665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300">
                <a:solidFill>
                  <a:srgbClr val="5A6472"/>
                </a:solidFill>
                <a:latin typeface="Arial"/>
                <a:ea typeface="Arial"/>
                <a:cs typeface="Arial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401568"/>
            <a:ext cx="3246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附注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6784"/>
            <a:ext cx="7178040" cy="10607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 dirty="0" err="1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参考日志来自一次真实</a:t>
            </a:r>
            <a:r>
              <a:rPr sz="880" b="0" i="0" dirty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" b="0" i="0" dirty="0" err="1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vllm</a:t>
            </a:r>
            <a:r>
              <a:rPr sz="880" b="0" i="0" dirty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 serve</a:t>
            </a:r>
            <a:r>
              <a:rPr sz="880" b="0" i="0" dirty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" b="0" i="0" dirty="0" err="1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运行</a:t>
            </a:r>
            <a:endParaRPr sz="880" b="0" i="0" dirty="0">
              <a:solidFill>
                <a:srgbClr val="5A64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13232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883664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54096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24528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94960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65392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166360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2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进  →  调度  →  广播  →  算  →  编译  →  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2001</Words>
  <Application>Microsoft Office PowerPoint</Application>
  <PresentationFormat>宽屏</PresentationFormat>
  <Paragraphs>500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微软雅黑</vt:lpstr>
      <vt:lpstr>Arial</vt:lpstr>
      <vt:lpstr>Calibri</vt:lpstr>
      <vt:lpstr>Consolas</vt:lpstr>
      <vt:lpstr>Segoe UI Symbol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yueyifan</cp:lastModifiedBy>
  <cp:revision>5</cp:revision>
  <dcterms:created xsi:type="dcterms:W3CDTF">2013-01-27T09:14:16Z</dcterms:created>
  <dcterms:modified xsi:type="dcterms:W3CDTF">2026-10-19T10:43:51Z</dcterms:modified>
  <cp:category/>
</cp:coreProperties>
</file>